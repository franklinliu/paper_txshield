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93B"/>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Prompt 1: Context-Aware Detection (Few-shot)</a:t>
            </a:r>
            <a:endParaRPr lang="en-US" sz="2200" dirty="0"/>
          </a:p>
        </p:txBody>
      </p:sp>
      <p:sp>
        <p:nvSpPr>
          <p:cNvPr id="4" name="Text 2"/>
          <p:cNvSpPr/>
          <p:nvPr/>
        </p:nvSpPr>
        <p:spPr>
          <a:xfrm>
            <a:off x="457200" y="100584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Role</a:t>
            </a:r>
            <a:endParaRPr lang="en-US" sz="1400" dirty="0"/>
          </a:p>
        </p:txBody>
      </p:sp>
      <p:sp>
        <p:nvSpPr>
          <p:cNvPr id="5" name="Text 3"/>
          <p:cNvSpPr/>
          <p:nvPr/>
        </p:nvSpPr>
        <p:spPr>
          <a:xfrm>
            <a:off x="457200" y="1280160"/>
            <a:ext cx="8229600" cy="45720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You are an expert in smart contract attack detection. Your task is to analyze the Current transaction against Historical attack examples provided in the context to determine malicious intent.</a:t>
            </a:r>
            <a:endParaRPr lang="en-US" sz="1100" dirty="0"/>
          </a:p>
        </p:txBody>
      </p:sp>
      <p:sp>
        <p:nvSpPr>
          <p:cNvPr id="6" name="Text 4"/>
          <p:cNvSpPr/>
          <p:nvPr/>
        </p:nvSpPr>
        <p:spPr>
          <a:xfrm>
            <a:off x="457200" y="178308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Core Directive</a:t>
            </a:r>
            <a:endParaRPr lang="en-US" sz="1400" dirty="0"/>
          </a:p>
        </p:txBody>
      </p:sp>
      <p:sp>
        <p:nvSpPr>
          <p:cNvPr id="7" name="Text 5"/>
          <p:cNvSpPr/>
          <p:nvPr/>
        </p:nvSpPr>
        <p:spPr>
          <a:xfrm>
            <a:off x="457200" y="2057400"/>
            <a:ext cx="8229600" cy="45720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historical examples were retrieved due to high behavioral similarity to the current transaction. Therefore, you must assume malicious intent initially and focus on validating the attack pattern.</a:t>
            </a:r>
            <a:endParaRPr lang="en-US" sz="1100" dirty="0"/>
          </a:p>
        </p:txBody>
      </p:sp>
      <p:sp>
        <p:nvSpPr>
          <p:cNvPr id="8" name="Text 6"/>
          <p:cNvSpPr/>
          <p:nvPr/>
        </p:nvSpPr>
        <p:spPr>
          <a:xfrm>
            <a:off x="457200" y="2560320"/>
            <a:ext cx="3657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Inputs</a:t>
            </a:r>
            <a:endParaRPr lang="en-US" sz="1400" dirty="0"/>
          </a:p>
        </p:txBody>
      </p:sp>
      <p:sp>
        <p:nvSpPr>
          <p:cNvPr id="9" name="Text 7"/>
          <p:cNvSpPr/>
          <p:nvPr/>
        </p:nvSpPr>
        <p:spPr>
          <a:xfrm>
            <a:off x="457200" y="2788920"/>
            <a:ext cx="3657600" cy="45720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1. Current transaction: </a:t>
            </a:r>
            <a:pPr indent="0" marL="0">
              <a:buNone/>
            </a:pPr>
            <a:r>
              <a:rPr lang="en-US" sz="1000" dirty="0">
                <a:solidFill>
                  <a:srgbClr val="0EA5E9"/>
                </a:solidFill>
                <a:latin typeface="Consolas" pitchFamily="34" charset="0"/>
                <a:ea typeface="Consolas" pitchFamily="34" charset="-122"/>
                <a:cs typeface="Consolas" pitchFamily="34" charset="-120"/>
              </a:rPr>
              <a:t>{system_input}</a:t>
            </a:r>
            <a:pPr indent="0" marL="0">
              <a:buNone/>
            </a:pP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2. Historical attack examples: </a:t>
            </a:r>
            <a:endParaRPr lang="en-US" sz="1000" dirty="0"/>
          </a:p>
          <a:p>
            <a:pPr indent="0" marL="0">
              <a:buNone/>
            </a:pPr>
            <a:r>
              <a:rPr lang="en-US" sz="1000" dirty="0">
                <a:solidFill>
                  <a:srgbClr val="0EA5E9"/>
                </a:solidFill>
                <a:latin typeface="Consolas" pitchFamily="34" charset="0"/>
                <a:ea typeface="Consolas" pitchFamily="34" charset="-122"/>
                <a:cs typeface="Consolas" pitchFamily="34" charset="-120"/>
              </a:rPr>
              <a:t>{context}</a:t>
            </a:r>
            <a:endParaRPr lang="en-US" sz="1000" dirty="0"/>
          </a:p>
        </p:txBody>
      </p:sp>
      <p:sp>
        <p:nvSpPr>
          <p:cNvPr id="10" name="Text 8"/>
          <p:cNvSpPr/>
          <p:nvPr/>
        </p:nvSpPr>
        <p:spPr>
          <a:xfrm>
            <a:off x="4572000" y="2560320"/>
            <a:ext cx="41148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Key Analysis Focus</a:t>
            </a:r>
            <a:endParaRPr lang="en-US" sz="1400" dirty="0"/>
          </a:p>
        </p:txBody>
      </p:sp>
      <p:sp>
        <p:nvSpPr>
          <p:cNvPr id="11" name="Text 9"/>
          <p:cNvSpPr/>
          <p:nvPr/>
        </p:nvSpPr>
        <p:spPr>
          <a:xfrm>
            <a:off x="4572000" y="2788920"/>
            <a:ext cx="4114800" cy="1097280"/>
          </a:xfrm>
          <a:prstGeom prst="rect">
            <a:avLst/>
          </a:prstGeom>
          <a:noFill/>
          <a:ln/>
        </p:spPr>
        <p:txBody>
          <a:bodyPr wrap="square" rtlCol="0" anchor="t"/>
          <a:lstStyle/>
          <a:p>
            <a:pPr indent="0" marL="0">
              <a:buNone/>
            </a:pPr>
            <a:r>
              <a:rPr lang="en-US" sz="900" b="1" dirty="0">
                <a:solidFill>
                  <a:srgbClr val="1E293B"/>
                </a:solidFill>
                <a:latin typeface="Calibri" pitchFamily="34" charset="0"/>
                <a:ea typeface="Calibri" pitchFamily="34" charset="-122"/>
                <a:cs typeface="Calibri" pitchFamily="34" charset="-120"/>
              </a:rPr>
              <a:t>Bias: </a:t>
            </a:r>
            <a:pPr indent="0" marL="0">
              <a:buNone/>
            </a:pPr>
            <a:r>
              <a:rPr lang="en-US" sz="900" dirty="0">
                <a:solidFill>
                  <a:srgbClr val="1E293B"/>
                </a:solidFill>
                <a:latin typeface="Calibri" pitchFamily="34" charset="0"/>
                <a:ea typeface="Calibri" pitchFamily="34" charset="-122"/>
                <a:cs typeface="Calibri" pitchFamily="34" charset="-120"/>
              </a:rPr>
              <a:t>Start assuming this is an Attack executing a known pattern.</a:t>
            </a:r>
            <a:endParaRPr lang="en-US" sz="900" dirty="0"/>
          </a:p>
          <a:p>
            <a:pPr indent="0" marL="0">
              <a:buNone/>
            </a:pPr>
            <a:r>
              <a:rPr lang="en-US" sz="900" b="1" dirty="0">
                <a:solidFill>
                  <a:srgbClr val="1E293B"/>
                </a:solidFill>
                <a:latin typeface="Calibri" pitchFamily="34" charset="0"/>
                <a:ea typeface="Calibri" pitchFamily="34" charset="-122"/>
                <a:cs typeface="Calibri" pitchFamily="34" charset="-120"/>
              </a:rPr>
              <a:t>Comparison: </a:t>
            </a:r>
            <a:endParaRPr lang="en-US" sz="900" dirty="0"/>
          </a:p>
          <a:p>
            <a:pPr indent="0" marL="0">
              <a:buNone/>
            </a:pPr>
            <a:r>
              <a:rPr lang="en-US" sz="900" dirty="0">
                <a:solidFill>
                  <a:srgbClr val="1E293B"/>
                </a:solidFill>
                <a:latin typeface="Calibri" pitchFamily="34" charset="0"/>
                <a:ea typeface="Calibri" pitchFamily="34" charset="-122"/>
                <a:cs typeface="Calibri" pitchFamily="34" charset="-120"/>
              </a:rPr>
              <a:t>Compare execution flow and fund transfers with historical examples.</a:t>
            </a:r>
            <a:endParaRPr lang="en-US" sz="900" dirty="0"/>
          </a:p>
          <a:p>
            <a:pPr indent="0" marL="0">
              <a:buNone/>
            </a:pPr>
            <a:r>
              <a:rPr lang="en-US" sz="900" b="1" dirty="0">
                <a:solidFill>
                  <a:srgbClr val="1E293B"/>
                </a:solidFill>
                <a:latin typeface="Calibri" pitchFamily="34" charset="0"/>
                <a:ea typeface="Calibri" pitchFamily="34" charset="-122"/>
                <a:cs typeface="Calibri" pitchFamily="34" charset="-120"/>
              </a:rPr>
              <a:t>Logic: </a:t>
            </a:r>
            <a:endParaRPr lang="en-US" sz="900" dirty="0"/>
          </a:p>
          <a:p>
            <a:pPr indent="0" marL="0">
              <a:buNone/>
            </a:pPr>
            <a:r>
              <a:rPr lang="en-US" sz="900" dirty="0">
                <a:solidFill>
                  <a:srgbClr val="1E293B"/>
                </a:solidFill>
                <a:latin typeface="Calibri" pitchFamily="34" charset="0"/>
                <a:ea typeface="Calibri" pitchFamily="34" charset="-122"/>
                <a:cs typeface="Calibri" pitchFamily="34" charset="-120"/>
              </a:rPr>
              <a:t>Ignore function names; focus on operational sequence and security implications.</a:t>
            </a:r>
            <a:endParaRPr lang="en-US" sz="900" dirty="0"/>
          </a:p>
          <a:p>
            <a:pPr indent="0" marL="0">
              <a:buNone/>
            </a:pPr>
            <a:r>
              <a:rPr lang="en-US" sz="900" b="1" dirty="0">
                <a:solidFill>
                  <a:srgbClr val="1E293B"/>
                </a:solidFill>
                <a:latin typeface="Calibri" pitchFamily="34" charset="0"/>
                <a:ea typeface="Calibri" pitchFamily="34" charset="-122"/>
                <a:cs typeface="Calibri" pitchFamily="34" charset="-120"/>
              </a:rPr>
              <a:t>Focus Points: </a:t>
            </a:r>
            <a:endParaRPr lang="en-US" sz="900" dirty="0"/>
          </a:p>
          <a:p>
            <a:pPr indent="0" marL="0">
              <a:buNone/>
            </a:pPr>
            <a:r>
              <a:rPr lang="en-US" sz="900" dirty="0">
                <a:solidFill>
                  <a:srgbClr val="1E293B"/>
                </a:solidFill>
                <a:latin typeface="Calibri" pitchFamily="34" charset="0"/>
                <a:ea typeface="Calibri" pitchFamily="34" charset="-122"/>
                <a:cs typeface="Calibri" pitchFamily="34" charset="-120"/>
              </a:rPr>
              <a:t>Inter-contract calls, abnormal fund movements, state manipulation patterns.</a:t>
            </a:r>
            <a:endParaRPr lang="en-US" sz="900" dirty="0"/>
          </a:p>
        </p:txBody>
      </p:sp>
      <p:sp>
        <p:nvSpPr>
          <p:cNvPr id="12" name="Text 10"/>
          <p:cNvSpPr/>
          <p:nvPr/>
        </p:nvSpPr>
        <p:spPr>
          <a:xfrm>
            <a:off x="457200" y="338328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Answer Format</a:t>
            </a:r>
            <a:endParaRPr lang="en-US" sz="1400" dirty="0"/>
          </a:p>
        </p:txBody>
      </p:sp>
      <p:sp>
        <p:nvSpPr>
          <p:cNvPr id="13" name="Text 11"/>
          <p:cNvSpPr/>
          <p:nvPr/>
        </p:nvSpPr>
        <p:spPr>
          <a:xfrm>
            <a:off x="457200" y="3657600"/>
            <a:ext cx="8229600" cy="137160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Begin with: </a:t>
            </a:r>
            <a:pPr indent="0" marL="0">
              <a:buNone/>
            </a:pPr>
            <a:r>
              <a:rPr lang="en-US" sz="1000" b="1" dirty="0">
                <a:solidFill>
                  <a:srgbClr val="DC2626"/>
                </a:solidFill>
                <a:latin typeface="Calibri" pitchFamily="34" charset="0"/>
                <a:ea typeface="Calibri" pitchFamily="34" charset="-122"/>
                <a:cs typeface="Calibri" pitchFamily="34" charset="-120"/>
              </a:rPr>
              <a:t>Attack</a:t>
            </a:r>
            <a:pPr indent="0" marL="0">
              <a:buNone/>
            </a:pPr>
            <a:r>
              <a:rPr lang="en-US" sz="1000" dirty="0">
                <a:solidFill>
                  <a:srgbClr val="1E293B"/>
                </a:solidFill>
                <a:latin typeface="Calibri" pitchFamily="34" charset="0"/>
                <a:ea typeface="Calibri" pitchFamily="34" charset="-122"/>
                <a:cs typeface="Calibri" pitchFamily="34" charset="-120"/>
              </a:rPr>
              <a:t> or </a:t>
            </a:r>
            <a:pPr indent="0" marL="0">
              <a:buNone/>
            </a:pPr>
            <a:r>
              <a:rPr lang="en-US" sz="1000" b="1" dirty="0">
                <a:solidFill>
                  <a:srgbClr val="16A34A"/>
                </a:solidFill>
                <a:latin typeface="Calibri" pitchFamily="34" charset="0"/>
                <a:ea typeface="Calibri" pitchFamily="34" charset="-122"/>
                <a:cs typeface="Calibri" pitchFamily="34" charset="-120"/>
              </a:rPr>
              <a:t>Benign</a:t>
            </a:r>
            <a:pPr indent="0" marL="0">
              <a:buNone/>
            </a:pPr>
            <a:r>
              <a:rPr lang="en-US" sz="1000" dirty="0">
                <a:solidFill>
                  <a:srgbClr val="1E293B"/>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1. Behavior Summary: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Describe contract interactions, fund movements, and final goal.</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2. Comparative Call Sequence Analysis: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Analyze call sequence. Compare with most similar historical ID(s). State shared malicious steps.</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3. Malicious Indicators &amp; Similarity Assessment: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Identify attack-confirming behaviors. Rate similarity: High/Moderate/Low. If Benign, provide irrefutable evidence.</a:t>
            </a:r>
            <a:endParaRPr lang="en-US" sz="1000" dirty="0"/>
          </a:p>
          <a:p>
            <a:pPr indent="0" marL="0">
              <a:buNone/>
            </a:pP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Limit: 200 words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93B"/>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Prompt 2: Zero-shot Detection</a:t>
            </a:r>
            <a:endParaRPr lang="en-US" sz="2200" dirty="0"/>
          </a:p>
        </p:txBody>
      </p:sp>
      <p:sp>
        <p:nvSpPr>
          <p:cNvPr id="4" name="Text 2"/>
          <p:cNvSpPr/>
          <p:nvPr/>
        </p:nvSpPr>
        <p:spPr>
          <a:xfrm>
            <a:off x="457200" y="100584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Role</a:t>
            </a:r>
            <a:endParaRPr lang="en-US" sz="1400" dirty="0"/>
          </a:p>
        </p:txBody>
      </p:sp>
      <p:sp>
        <p:nvSpPr>
          <p:cNvPr id="5" name="Text 3"/>
          <p:cNvSpPr/>
          <p:nvPr/>
        </p:nvSpPr>
        <p:spPr>
          <a:xfrm>
            <a:off x="457200" y="1280160"/>
            <a:ext cx="8229600" cy="3657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You are an expert in smart contract attack detection. Evaluate whether the current transaction is malicious based only on the provided transaction data.</a:t>
            </a:r>
            <a:endParaRPr lang="en-US" sz="11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Core Guiding Principle</a:t>
            </a:r>
            <a:endParaRPr lang="en-US" sz="1400" dirty="0"/>
          </a:p>
        </p:txBody>
      </p:sp>
      <p:sp>
        <p:nvSpPr>
          <p:cNvPr id="7" name="Text 5"/>
          <p:cNvSpPr/>
          <p:nvPr/>
        </p:nvSpPr>
        <p:spPr>
          <a:xfrm>
            <a:off x="457200" y="2011680"/>
            <a:ext cx="8229600" cy="5486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There is no prior knowledge or historical context provided. Your judgment must be based purely on the internal logic, security best practices, and execution behavior of the current transaction. Assume the transaction is Benign unless verifiable security flaws or abnormal logic are evident in the input.</a:t>
            </a:r>
            <a:endParaRPr lang="en-US" sz="1100" dirty="0"/>
          </a:p>
        </p:txBody>
      </p:sp>
      <p:sp>
        <p:nvSpPr>
          <p:cNvPr id="8" name="Text 6"/>
          <p:cNvSpPr/>
          <p:nvPr/>
        </p:nvSpPr>
        <p:spPr>
          <a:xfrm>
            <a:off x="457200" y="265176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Inputs</a:t>
            </a:r>
            <a:endParaRPr lang="en-US" sz="1400" dirty="0"/>
          </a:p>
        </p:txBody>
      </p:sp>
      <p:sp>
        <p:nvSpPr>
          <p:cNvPr id="9" name="Text 7"/>
          <p:cNvSpPr/>
          <p:nvPr/>
        </p:nvSpPr>
        <p:spPr>
          <a:xfrm>
            <a:off x="457200" y="2880360"/>
            <a:ext cx="8229600" cy="45720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Current transaction: </a:t>
            </a:r>
            <a:pPr indent="0" marL="0">
              <a:buNone/>
            </a:pPr>
            <a:r>
              <a:rPr lang="en-US" sz="1100" dirty="0">
                <a:solidFill>
                  <a:srgbClr val="0EA5E9"/>
                </a:solidFill>
                <a:latin typeface="Consolas" pitchFamily="34" charset="0"/>
                <a:ea typeface="Consolas" pitchFamily="34" charset="-122"/>
                <a:cs typeface="Consolas" pitchFamily="34" charset="-120"/>
              </a:rPr>
              <a:t>{system_input}</a:t>
            </a:r>
            <a:pPr indent="0" marL="0">
              <a:buNone/>
            </a:pPr>
            <a:endParaRPr lang="en-US" sz="1100" dirty="0"/>
          </a:p>
          <a:p>
            <a:pPr indent="0" marL="0">
              <a:buNone/>
            </a:pPr>
            <a:r>
              <a:rPr lang="en-US" sz="1100" b="1" dirty="0">
                <a:solidFill>
                  <a:srgbClr val="1E293B"/>
                </a:solidFill>
                <a:latin typeface="Calibri" pitchFamily="34" charset="0"/>
                <a:ea typeface="Calibri" pitchFamily="34" charset="-122"/>
                <a:cs typeface="Calibri" pitchFamily="34" charset="-120"/>
              </a:rPr>
              <a:t>Question: </a:t>
            </a:r>
            <a:endParaRPr lang="en-US" sz="1100" dirty="0"/>
          </a:p>
          <a:p>
            <a:pPr indent="0" marL="0">
              <a:buNone/>
            </a:pPr>
            <a:r>
              <a:rPr lang="en-US" sz="1100" dirty="0">
                <a:solidFill>
                  <a:srgbClr val="0EA5E9"/>
                </a:solidFill>
                <a:latin typeface="Consolas" pitchFamily="34" charset="0"/>
                <a:ea typeface="Consolas" pitchFamily="34" charset="-122"/>
                <a:cs typeface="Consolas" pitchFamily="34" charset="-120"/>
              </a:rPr>
              <a:t>{query}</a:t>
            </a:r>
            <a:endParaRPr lang="en-US" sz="1100" dirty="0"/>
          </a:p>
        </p:txBody>
      </p:sp>
      <p:sp>
        <p:nvSpPr>
          <p:cNvPr id="10" name="Text 8"/>
          <p:cNvSpPr/>
          <p:nvPr/>
        </p:nvSpPr>
        <p:spPr>
          <a:xfrm>
            <a:off x="457200" y="3429000"/>
            <a:ext cx="8229600" cy="274320"/>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Answer Format</a:t>
            </a:r>
            <a:endParaRPr lang="en-US" sz="1400" dirty="0"/>
          </a:p>
        </p:txBody>
      </p:sp>
      <p:sp>
        <p:nvSpPr>
          <p:cNvPr id="11" name="Text 9"/>
          <p:cNvSpPr/>
          <p:nvPr/>
        </p:nvSpPr>
        <p:spPr>
          <a:xfrm>
            <a:off x="457200" y="3703320"/>
            <a:ext cx="8229600" cy="137160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Begin with: </a:t>
            </a:r>
            <a:pPr indent="0" marL="0">
              <a:buNone/>
            </a:pPr>
            <a:r>
              <a:rPr lang="en-US" sz="1000" b="1" dirty="0">
                <a:solidFill>
                  <a:srgbClr val="DC2626"/>
                </a:solidFill>
                <a:latin typeface="Calibri" pitchFamily="34" charset="0"/>
                <a:ea typeface="Calibri" pitchFamily="34" charset="-122"/>
                <a:cs typeface="Calibri" pitchFamily="34" charset="-120"/>
              </a:rPr>
              <a:t>Attack</a:t>
            </a:r>
            <a:pPr indent="0" marL="0">
              <a:buNone/>
            </a:pPr>
            <a:r>
              <a:rPr lang="en-US" sz="1000" dirty="0">
                <a:solidFill>
                  <a:srgbClr val="1E293B"/>
                </a:solidFill>
                <a:latin typeface="Calibri" pitchFamily="34" charset="0"/>
                <a:ea typeface="Calibri" pitchFamily="34" charset="-122"/>
                <a:cs typeface="Calibri" pitchFamily="34" charset="-120"/>
              </a:rPr>
              <a:t> or </a:t>
            </a:r>
            <a:pPr indent="0" marL="0">
              <a:buNone/>
            </a:pPr>
            <a:r>
              <a:rPr lang="en-US" sz="1000" b="1" dirty="0">
                <a:solidFill>
                  <a:srgbClr val="16A34A"/>
                </a:solidFill>
                <a:latin typeface="Calibri" pitchFamily="34" charset="0"/>
                <a:ea typeface="Calibri" pitchFamily="34" charset="-122"/>
                <a:cs typeface="Calibri" pitchFamily="34" charset="-120"/>
              </a:rPr>
              <a:t>Benign</a:t>
            </a:r>
            <a:pPr indent="0" marL="0">
              <a:buNone/>
            </a:pPr>
            <a:r>
              <a:rPr lang="en-US" sz="1000" dirty="0">
                <a:solidFill>
                  <a:srgbClr val="1E293B"/>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1. Behavior Summary: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Describe the transaction's overall behavior, including contract interactions and fund movements.</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2. Call Sequence Analysis: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Analyze the function call sequence. Highlight unusual operations or patterns violating smart contract security practices (e.g., state change before external call).</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3. Malicious Indicators: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Identify behaviors indicating an attack (e.g., reentrancy, unprivileged function calls, unauthorized balance changes) OR explain why the transaction is logically sound (if Benign).</a:t>
            </a:r>
            <a:endParaRPr lang="en-US" sz="1000" dirty="0"/>
          </a:p>
          <a:p>
            <a:pPr indent="0" marL="0">
              <a:buNone/>
            </a:pP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Limit: 200 words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RAGFlow Prompt Templates</dc:title>
  <dc:subject>PptxGenJS Presentation</dc:subject>
  <dc:creator>RAGFlow</dc:creator>
  <cp:lastModifiedBy>RAGFlow</cp:lastModifiedBy>
  <cp:revision>1</cp:revision>
  <dcterms:created xsi:type="dcterms:W3CDTF">2026-01-29T05:27:42Z</dcterms:created>
  <dcterms:modified xsi:type="dcterms:W3CDTF">2026-01-29T05:27:42Z</dcterms:modified>
</cp:coreProperties>
</file>