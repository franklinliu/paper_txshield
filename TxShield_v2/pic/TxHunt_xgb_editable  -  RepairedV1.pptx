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5" r:id="rId2"/>
    <p:sldId id="263" r:id="rId3"/>
  </p:sldIdLst>
  <p:sldSz cx="14630400" cy="9144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69696"/>
    <a:srgbClr val="007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97"/>
    <p:restoredTop sz="94685"/>
  </p:normalViewPr>
  <p:slideViewPr>
    <p:cSldViewPr snapToGrid="0">
      <p:cViewPr varScale="1">
        <p:scale>
          <a:sx n="88" d="100"/>
          <a:sy n="88" d="100"/>
        </p:scale>
        <p:origin x="93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直接箭头连接符 27"/>
          <p:cNvCxnSpPr>
            <a:stCxn id="61" idx="2"/>
            <a:endCxn id="66" idx="0"/>
          </p:cNvCxnSpPr>
          <p:nvPr/>
        </p:nvCxnSpPr>
        <p:spPr>
          <a:xfrm>
            <a:off x="2624455" y="2657475"/>
            <a:ext cx="0" cy="253111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组合 13"/>
          <p:cNvGrpSpPr/>
          <p:nvPr/>
        </p:nvGrpSpPr>
        <p:grpSpPr>
          <a:xfrm>
            <a:off x="1260158" y="1591945"/>
            <a:ext cx="2727960" cy="1064895"/>
            <a:chOff x="1387" y="2507"/>
            <a:chExt cx="4296" cy="1677"/>
          </a:xfrm>
        </p:grpSpPr>
        <p:pic>
          <p:nvPicPr>
            <p:cNvPr id="10" name="图片 9" descr="图标&#10;&#10;AI 生成的内容可能不正确。"/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2887" y="2507"/>
              <a:ext cx="1298" cy="1071"/>
            </a:xfrm>
            <a:prstGeom prst="rect">
              <a:avLst/>
            </a:prstGeom>
          </p:spPr>
        </p:pic>
        <p:sp>
          <p:nvSpPr>
            <p:cNvPr id="61" name="文本框 60"/>
            <p:cNvSpPr txBox="1"/>
            <p:nvPr/>
          </p:nvSpPr>
          <p:spPr>
            <a:xfrm rot="10800000" flipV="1">
              <a:off x="1387" y="3508"/>
              <a:ext cx="4297" cy="6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200" dirty="0">
                  <a:latin typeface="Times New Roman" panose="02020603050405020304" charset="0"/>
                  <a:cs typeface="Times New Roman" panose="02020603050405020304" charset="0"/>
                </a:rPr>
                <a:t>Raw Transaction Data</a:t>
              </a:r>
            </a:p>
          </p:txBody>
        </p:sp>
      </p:grpSp>
      <p:pic>
        <p:nvPicPr>
          <p:cNvPr id="16" name="图片 15" descr="图标&#10;&#10;AI 生成的内容可能不正确。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 rot="16200000">
            <a:off x="1971040" y="5766435"/>
            <a:ext cx="1306195" cy="1310005"/>
          </a:xfrm>
          <a:prstGeom prst="rect">
            <a:avLst/>
          </a:prstGeom>
        </p:spPr>
      </p:pic>
      <p:sp>
        <p:nvSpPr>
          <p:cNvPr id="66" name="文本框 65"/>
          <p:cNvSpPr txBox="1"/>
          <p:nvPr/>
        </p:nvSpPr>
        <p:spPr>
          <a:xfrm>
            <a:off x="1323975" y="5188585"/>
            <a:ext cx="2600960" cy="7696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200" dirty="0">
                <a:latin typeface="Times New Roman" panose="02020603050405020304" charset="0"/>
                <a:cs typeface="Times New Roman" panose="02020603050405020304" charset="0"/>
              </a:rPr>
              <a:t>Pruned </a:t>
            </a:r>
            <a:r>
              <a:rPr lang="en-US" sz="2200" dirty="0">
                <a:latin typeface="Times New Roman" panose="02020603050405020304" charset="0"/>
                <a:cs typeface="Times New Roman" panose="02020603050405020304" charset="0"/>
              </a:rPr>
              <a:t>Target</a:t>
            </a:r>
            <a:endParaRPr lang="en-US" altLang="zh-CN" sz="22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zh-CN" sz="2200" dirty="0">
                <a:latin typeface="Times New Roman" panose="02020603050405020304" charset="0"/>
                <a:cs typeface="Times New Roman" panose="02020603050405020304" charset="0"/>
              </a:rPr>
              <a:t>Execution Trace Tree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954405" y="3881120"/>
            <a:ext cx="1841500" cy="395605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altLang="zh-CN" sz="2200" b="1" i="1">
                <a:solidFill>
                  <a:srgbClr val="000000"/>
                </a:solidFill>
                <a:latin typeface="Times New Roman" panose="02020603050405020304" charset="0"/>
                <a:ea typeface="TimesNewRomanPS-BoldItalicMT"/>
                <a:cs typeface="Times New Roman" panose="02020603050405020304" charset="0"/>
              </a:rPr>
              <a:t>1. Preprocess</a:t>
            </a:r>
          </a:p>
        </p:txBody>
      </p:sp>
      <p:pic>
        <p:nvPicPr>
          <p:cNvPr id="7" name="Picture 19" descr="Database icon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3449" y="2880995"/>
            <a:ext cx="976630" cy="850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文本框 40"/>
          <p:cNvSpPr txBox="1"/>
          <p:nvPr/>
        </p:nvSpPr>
        <p:spPr>
          <a:xfrm>
            <a:off x="11268079" y="880110"/>
            <a:ext cx="1727200" cy="7061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2200" dirty="0">
                <a:latin typeface="Times New Roman" panose="02020603050405020304" charset="0"/>
                <a:cs typeface="Times New Roman" panose="02020603050405020304" charset="0"/>
              </a:rPr>
              <a:t>Attack </a:t>
            </a:r>
          </a:p>
          <a:p>
            <a:pPr algn="ctr"/>
            <a:r>
              <a:rPr lang="en-US" altLang="zh-CN" sz="2200" dirty="0">
                <a:latin typeface="Times New Roman" panose="02020603050405020304" charset="0"/>
                <a:cs typeface="Times New Roman" panose="02020603050405020304" charset="0"/>
              </a:rPr>
              <a:t>Transactions</a:t>
            </a:r>
          </a:p>
        </p:txBody>
      </p:sp>
      <p:sp>
        <p:nvSpPr>
          <p:cNvPr id="42" name="文本框 41"/>
          <p:cNvSpPr txBox="1"/>
          <p:nvPr/>
        </p:nvSpPr>
        <p:spPr>
          <a:xfrm>
            <a:off x="4198624" y="2233295"/>
            <a:ext cx="2425700" cy="768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200" i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History Knowledge </a:t>
            </a:r>
          </a:p>
          <a:p>
            <a:pPr algn="ctr"/>
            <a:r>
              <a:rPr lang="en-US" altLang="zh-CN" sz="2200" i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Construction</a:t>
            </a:r>
          </a:p>
        </p:txBody>
      </p:sp>
      <p:cxnSp>
        <p:nvCxnSpPr>
          <p:cNvPr id="47" name="直接箭头连接符 46"/>
          <p:cNvCxnSpPr>
            <a:stCxn id="15" idx="0"/>
            <a:endCxn id="41" idx="1"/>
          </p:cNvCxnSpPr>
          <p:nvPr/>
        </p:nvCxnSpPr>
        <p:spPr>
          <a:xfrm flipV="1">
            <a:off x="8617589" y="1233170"/>
            <a:ext cx="2650490" cy="12065"/>
          </a:xfrm>
          <a:prstGeom prst="straightConnector1">
            <a:avLst/>
          </a:prstGeom>
          <a:ln w="28575">
            <a:solidFill>
              <a:srgbClr val="96969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/>
          <p:cNvCxnSpPr>
            <a:stCxn id="41" idx="2"/>
            <a:endCxn id="34" idx="0"/>
          </p:cNvCxnSpPr>
          <p:nvPr/>
        </p:nvCxnSpPr>
        <p:spPr>
          <a:xfrm>
            <a:off x="12131679" y="1586230"/>
            <a:ext cx="635" cy="1402080"/>
          </a:xfrm>
          <a:prstGeom prst="straightConnector1">
            <a:avLst/>
          </a:prstGeom>
          <a:ln w="28575">
            <a:solidFill>
              <a:srgbClr val="96969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矩形: 圆角 67"/>
          <p:cNvSpPr/>
          <p:nvPr/>
        </p:nvSpPr>
        <p:spPr>
          <a:xfrm>
            <a:off x="4044954" y="696595"/>
            <a:ext cx="9359265" cy="3184525"/>
          </a:xfrm>
          <a:prstGeom prst="roundRect">
            <a:avLst/>
          </a:prstGeom>
          <a:noFill/>
          <a:ln w="28575">
            <a:solidFill>
              <a:schemeClr val="tx1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1" name="Shape 71"/>
          <p:cNvSpPr/>
          <p:nvPr/>
        </p:nvSpPr>
        <p:spPr>
          <a:xfrm>
            <a:off x="9044305" y="4452620"/>
            <a:ext cx="2630805" cy="3805555"/>
          </a:xfrm>
          <a:prstGeom prst="roundRect">
            <a:avLst>
              <a:gd name="adj" fmla="val 9413"/>
            </a:avLst>
          </a:prstGeom>
          <a:solidFill>
            <a:srgbClr val="FFFFFF"/>
          </a:solidFill>
          <a:ln w="18000">
            <a:solidFill>
              <a:srgbClr val="00000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2"/>
          <p:cNvSpPr/>
          <p:nvPr/>
        </p:nvSpPr>
        <p:spPr>
          <a:xfrm>
            <a:off x="9147175" y="5546090"/>
            <a:ext cx="2406650" cy="777240"/>
          </a:xfrm>
          <a:prstGeom prst="roundRect">
            <a:avLst/>
          </a:prstGeom>
          <a:solidFill>
            <a:srgbClr val="FFFFFF"/>
          </a:solidFill>
          <a:ln w="18000">
            <a:solidFill>
              <a:srgbClr val="000000"/>
            </a:solidFill>
            <a:prstDash val="dash"/>
          </a:ln>
        </p:spPr>
        <p:txBody>
          <a:bodyPr lIns="0" tIns="0" rIns="0" bIns="0" anchor="ctr"/>
          <a:lstStyle/>
          <a:p>
            <a:pPr algn="ctr"/>
            <a:r>
              <a:rPr lang="en-US" sz="2200" b="0" i="0" dirty="0">
                <a:latin typeface="Times New Roman" panose="02020603050405020304" charset="0"/>
                <a:cs typeface="Times New Roman" panose="02020603050405020304" charset="0"/>
              </a:rPr>
              <a:t>Reference#1</a:t>
            </a:r>
          </a:p>
          <a:p>
            <a:pPr algn="ctr"/>
            <a:r>
              <a:rPr lang="en-US" sz="2200" b="0" i="0" dirty="0" err="1">
                <a:latin typeface="Times New Roman" panose="02020603050405020304" charset="0"/>
                <a:cs typeface="Times New Roman" panose="02020603050405020304" charset="0"/>
              </a:rPr>
              <a:t>summary&amp;trace</a:t>
            </a:r>
            <a:endParaRPr lang="en-US" sz="2200" b="0" i="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3" name="Shape 73"/>
          <p:cNvSpPr/>
          <p:nvPr/>
        </p:nvSpPr>
        <p:spPr>
          <a:xfrm>
            <a:off x="9147175" y="6468745"/>
            <a:ext cx="2406650" cy="777240"/>
          </a:xfrm>
          <a:prstGeom prst="roundRect">
            <a:avLst/>
          </a:prstGeom>
          <a:solidFill>
            <a:srgbClr val="FFFFFF"/>
          </a:solidFill>
          <a:ln w="18000">
            <a:solidFill>
              <a:srgbClr val="000000"/>
            </a:solidFill>
            <a:prstDash val="dash"/>
          </a:ln>
        </p:spPr>
        <p:txBody>
          <a:bodyPr lIns="0" tIns="0" rIns="0" bIns="0" anchor="ctr"/>
          <a:lstStyle/>
          <a:p>
            <a:pPr algn="ctr"/>
            <a:r>
              <a:rPr lang="en-US" sz="2200" b="0" i="0">
                <a:latin typeface="Times New Roman" panose="02020603050405020304" charset="0"/>
                <a:cs typeface="Times New Roman" panose="02020603050405020304" charset="0"/>
              </a:rPr>
              <a:t>Reference#k</a:t>
            </a:r>
          </a:p>
          <a:p>
            <a:pPr algn="ctr"/>
            <a:r>
              <a:rPr lang="en-US" sz="2200" b="0" i="0">
                <a:latin typeface="Times New Roman" panose="02020603050405020304" charset="0"/>
                <a:cs typeface="Times New Roman" panose="02020603050405020304" charset="0"/>
              </a:rPr>
              <a:t>summary&amp;trace</a:t>
            </a:r>
          </a:p>
        </p:txBody>
      </p:sp>
      <p:sp>
        <p:nvSpPr>
          <p:cNvPr id="74" name="Shape 74"/>
          <p:cNvSpPr/>
          <p:nvPr/>
        </p:nvSpPr>
        <p:spPr>
          <a:xfrm>
            <a:off x="9147175" y="7391400"/>
            <a:ext cx="2406650" cy="777240"/>
          </a:xfrm>
          <a:prstGeom prst="roundRect">
            <a:avLst/>
          </a:prstGeom>
          <a:solidFill>
            <a:srgbClr val="FFFFFF"/>
          </a:solidFill>
          <a:ln w="18000">
            <a:solidFill>
              <a:srgbClr val="000000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2200" b="0" i="0" dirty="0">
                <a:latin typeface="Times New Roman" panose="02020603050405020304" charset="0"/>
                <a:cs typeface="Times New Roman" panose="02020603050405020304" charset="0"/>
              </a:rPr>
              <a:t>Target execution</a:t>
            </a:r>
          </a:p>
          <a:p>
            <a:pPr algn="ctr"/>
            <a:r>
              <a:rPr lang="en-US" sz="2200" b="0" i="0" dirty="0">
                <a:latin typeface="Times New Roman" panose="02020603050405020304" charset="0"/>
                <a:cs typeface="Times New Roman" panose="02020603050405020304" charset="0"/>
              </a:rPr>
              <a:t>trace</a:t>
            </a:r>
            <a:r>
              <a:rPr lang="zh-CN" altLang="en-US" sz="2200" b="0" i="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zh-CN" sz="2200" b="0" i="0" dirty="0">
                <a:latin typeface="Times New Roman" panose="02020603050405020304" charset="0"/>
                <a:cs typeface="Times New Roman" panose="02020603050405020304" charset="0"/>
              </a:rPr>
              <a:t>tree</a:t>
            </a:r>
            <a:endParaRPr lang="en-US" sz="2200" b="0" i="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Shape 75"/>
          <p:cNvSpPr/>
          <p:nvPr/>
        </p:nvSpPr>
        <p:spPr>
          <a:xfrm>
            <a:off x="10138410" y="6172835"/>
            <a:ext cx="379095" cy="2597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2200" b="0" i="0">
                <a:latin typeface="Times New Roman" panose="02020603050405020304" charset="0"/>
                <a:cs typeface="Times New Roman" panose="02020603050405020304" charset="0"/>
              </a:rPr>
              <a:t>...</a:t>
            </a:r>
          </a:p>
        </p:txBody>
      </p:sp>
      <p:sp>
        <p:nvSpPr>
          <p:cNvPr id="15" name="Shape 4"/>
          <p:cNvSpPr/>
          <p:nvPr/>
        </p:nvSpPr>
        <p:spPr>
          <a:xfrm>
            <a:off x="6459859" y="928053"/>
            <a:ext cx="2157730" cy="633095"/>
          </a:xfrm>
          <a:prstGeom prst="round2DiagRect">
            <a:avLst/>
          </a:prstGeom>
          <a:noFill/>
          <a:ln w="18000">
            <a:solidFill>
              <a:srgbClr val="000000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2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Exploit Scripts</a:t>
            </a:r>
          </a:p>
        </p:txBody>
      </p:sp>
      <p:pic>
        <p:nvPicPr>
          <p:cNvPr id="21" name="图片 20" descr="图标&#10;&#10;AI 生成的内容可能不正确。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0169" y="1689735"/>
            <a:ext cx="933450" cy="812800"/>
          </a:xfrm>
          <a:prstGeom prst="rect">
            <a:avLst/>
          </a:prstGeom>
        </p:spPr>
      </p:pic>
      <p:sp>
        <p:nvSpPr>
          <p:cNvPr id="23" name="文本框 22"/>
          <p:cNvSpPr txBox="1"/>
          <p:nvPr/>
        </p:nvSpPr>
        <p:spPr>
          <a:xfrm>
            <a:off x="7789549" y="2558415"/>
            <a:ext cx="772795" cy="4298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200" dirty="0">
                <a:latin typeface="Times New Roman" panose="02020603050405020304" charset="0"/>
                <a:cs typeface="Times New Roman" panose="02020603050405020304" charset="0"/>
              </a:rPr>
              <a:t>LLM</a:t>
            </a:r>
          </a:p>
        </p:txBody>
      </p:sp>
      <p:cxnSp>
        <p:nvCxnSpPr>
          <p:cNvPr id="24" name="直接箭头连接符 23"/>
          <p:cNvCxnSpPr>
            <a:stCxn id="15" idx="1"/>
            <a:endCxn id="26" idx="0"/>
          </p:cNvCxnSpPr>
          <p:nvPr/>
        </p:nvCxnSpPr>
        <p:spPr>
          <a:xfrm>
            <a:off x="7538724" y="1561465"/>
            <a:ext cx="0" cy="1440180"/>
          </a:xfrm>
          <a:prstGeom prst="straightConnector1">
            <a:avLst/>
          </a:prstGeom>
          <a:ln w="28575">
            <a:solidFill>
              <a:srgbClr val="96969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/>
        </p:nvSpPr>
        <p:spPr>
          <a:xfrm>
            <a:off x="8967474" y="3001328"/>
            <a:ext cx="1828800" cy="768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2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Vector</a:t>
            </a:r>
          </a:p>
          <a:p>
            <a:pPr algn="ctr"/>
            <a:r>
              <a:rPr lang="en-US" altLang="zh-CN" sz="22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Database</a:t>
            </a:r>
            <a:endParaRPr lang="zh-CN" altLang="en-US" sz="22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6624324" y="3001328"/>
            <a:ext cx="1828800" cy="768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2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Summary</a:t>
            </a:r>
          </a:p>
          <a:p>
            <a:pPr algn="ctr"/>
            <a:r>
              <a:rPr lang="en-US" altLang="zh-CN" sz="22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Metadata</a:t>
            </a:r>
          </a:p>
        </p:txBody>
      </p:sp>
      <p:cxnSp>
        <p:nvCxnSpPr>
          <p:cNvPr id="32" name="直接箭头连接符 31"/>
          <p:cNvCxnSpPr>
            <a:stCxn id="34" idx="1"/>
          </p:cNvCxnSpPr>
          <p:nvPr/>
        </p:nvCxnSpPr>
        <p:spPr>
          <a:xfrm flipH="1">
            <a:off x="10528939" y="3372485"/>
            <a:ext cx="948055" cy="13335"/>
          </a:xfrm>
          <a:prstGeom prst="straightConnector1">
            <a:avLst/>
          </a:prstGeom>
          <a:ln w="28575">
            <a:solidFill>
              <a:srgbClr val="96969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/>
        </p:nvSpPr>
        <p:spPr>
          <a:xfrm>
            <a:off x="10546719" y="2949575"/>
            <a:ext cx="1235710" cy="43624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US" altLang="zh-CN" sz="2200" i="1" dirty="0">
                <a:latin typeface="Times New Roman" panose="02020603050405020304" charset="0"/>
                <a:cs typeface="Times New Roman" panose="02020603050405020304" charset="0"/>
              </a:rPr>
              <a:t>embed</a:t>
            </a:r>
          </a:p>
        </p:txBody>
      </p:sp>
      <p:sp>
        <p:nvSpPr>
          <p:cNvPr id="34" name="文本框 33"/>
          <p:cNvSpPr txBox="1"/>
          <p:nvPr/>
        </p:nvSpPr>
        <p:spPr>
          <a:xfrm>
            <a:off x="11476677" y="2988310"/>
            <a:ext cx="1310005" cy="768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2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Behavior </a:t>
            </a:r>
            <a:endParaRPr lang="en-US" altLang="zh-CN" sz="22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zh-CN" sz="22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Traces</a:t>
            </a:r>
            <a:endParaRPr lang="zh-CN" altLang="en-US" sz="22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9560564" y="796925"/>
            <a:ext cx="1235710" cy="43624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US" altLang="zh-CN" sz="2200" i="1" dirty="0">
                <a:latin typeface="Times New Roman" panose="02020603050405020304" charset="0"/>
                <a:cs typeface="Times New Roman" panose="02020603050405020304" charset="0"/>
              </a:rPr>
              <a:t>simulate</a:t>
            </a:r>
          </a:p>
        </p:txBody>
      </p:sp>
      <p:sp>
        <p:nvSpPr>
          <p:cNvPr id="57" name="文本框 56"/>
          <p:cNvSpPr txBox="1"/>
          <p:nvPr/>
        </p:nvSpPr>
        <p:spPr>
          <a:xfrm>
            <a:off x="12202799" y="2065020"/>
            <a:ext cx="1235710" cy="43624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US" altLang="zh-CN" sz="2200" i="1" dirty="0">
                <a:latin typeface="Times New Roman" panose="02020603050405020304" charset="0"/>
                <a:cs typeface="Times New Roman" panose="02020603050405020304" charset="0"/>
              </a:rPr>
              <a:t>sanitize</a:t>
            </a:r>
          </a:p>
        </p:txBody>
      </p:sp>
      <p:sp>
        <p:nvSpPr>
          <p:cNvPr id="58" name="文本框 57"/>
          <p:cNvSpPr txBox="1"/>
          <p:nvPr/>
        </p:nvSpPr>
        <p:spPr>
          <a:xfrm>
            <a:off x="3215266" y="4676029"/>
            <a:ext cx="1558925" cy="724535"/>
          </a:xfrm>
          <a:prstGeom prst="rect">
            <a:avLst/>
          </a:prstGeom>
        </p:spPr>
        <p:txBody>
          <a:bodyPr>
            <a:noAutofit/>
          </a:bodyPr>
          <a:lstStyle/>
          <a:p>
            <a:pPr algn="r"/>
            <a:r>
              <a:rPr lang="en-US" altLang="zh-CN" sz="2200" b="1" i="1" dirty="0">
                <a:solidFill>
                  <a:srgbClr val="000000"/>
                </a:solidFill>
                <a:latin typeface="Times New Roman" panose="02020603050405020304" charset="0"/>
                <a:ea typeface="TimesNewRomanPS-BoldItalicMT"/>
                <a:cs typeface="Times New Roman" panose="02020603050405020304" charset="0"/>
              </a:rPr>
              <a:t>2. Query &amp;</a:t>
            </a:r>
          </a:p>
          <a:p>
            <a:pPr algn="r"/>
            <a:r>
              <a:rPr lang="en-US" altLang="zh-CN" sz="2200" b="1" i="1" dirty="0">
                <a:solidFill>
                  <a:srgbClr val="000000"/>
                </a:solidFill>
                <a:latin typeface="Times New Roman" panose="02020603050405020304" charset="0"/>
                <a:ea typeface="TimesNewRomanPS-BoldItalicMT"/>
                <a:cs typeface="Times New Roman" panose="02020603050405020304" charset="0"/>
              </a:rPr>
              <a:t>Retrieval</a:t>
            </a:r>
          </a:p>
        </p:txBody>
      </p:sp>
      <p:sp>
        <p:nvSpPr>
          <p:cNvPr id="59" name="文本框 58"/>
          <p:cNvSpPr txBox="1"/>
          <p:nvPr/>
        </p:nvSpPr>
        <p:spPr>
          <a:xfrm>
            <a:off x="8521069" y="3124835"/>
            <a:ext cx="38354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latin typeface="Times New Roman" panose="02020603050405020304" charset="0"/>
                <a:cs typeface="Times New Roman" panose="02020603050405020304" charset="0"/>
              </a:rPr>
              <a:t>+</a:t>
            </a:r>
          </a:p>
        </p:txBody>
      </p:sp>
      <p:pic>
        <p:nvPicPr>
          <p:cNvPr id="63" name="图片 62" descr="图标&#10;&#10;AI 生成的内容可能不正确。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78601" y="4623435"/>
            <a:ext cx="581025" cy="591185"/>
          </a:xfrm>
          <a:prstGeom prst="rect">
            <a:avLst/>
          </a:prstGeom>
        </p:spPr>
      </p:pic>
      <p:sp>
        <p:nvSpPr>
          <p:cNvPr id="69" name="文本框 68"/>
          <p:cNvSpPr txBox="1"/>
          <p:nvPr/>
        </p:nvSpPr>
        <p:spPr>
          <a:xfrm>
            <a:off x="5071871" y="5214431"/>
            <a:ext cx="139448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200" dirty="0">
                <a:latin typeface="Times New Roman" panose="02020603050405020304" charset="0"/>
                <a:cs typeface="Times New Roman" panose="02020603050405020304" charset="0"/>
              </a:rPr>
              <a:t>Top-</a:t>
            </a:r>
            <a:r>
              <a:rPr lang="en-US" altLang="zh-CN" sz="2200" i="1" dirty="0">
                <a:latin typeface="Times New Roman" panose="02020603050405020304" charset="0"/>
                <a:cs typeface="Times New Roman" panose="02020603050405020304" charset="0"/>
              </a:rPr>
              <a:t>k</a:t>
            </a:r>
            <a:r>
              <a:rPr lang="en-US" altLang="zh-CN" sz="2200" dirty="0">
                <a:latin typeface="Times New Roman" panose="02020603050405020304" charset="0"/>
                <a:cs typeface="Times New Roman" panose="02020603050405020304" charset="0"/>
              </a:rPr>
              <a:t> case</a:t>
            </a:r>
            <a:endParaRPr lang="zh-CN" altLang="en-US" sz="22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70" name="直接箭头连接符 69"/>
          <p:cNvCxnSpPr>
            <a:stCxn id="16" idx="2"/>
            <a:endCxn id="11" idx="2"/>
          </p:cNvCxnSpPr>
          <p:nvPr/>
        </p:nvCxnSpPr>
        <p:spPr>
          <a:xfrm>
            <a:off x="3279140" y="6420900"/>
            <a:ext cx="3327400" cy="63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箭头连接符 79"/>
          <p:cNvCxnSpPr/>
          <p:nvPr/>
        </p:nvCxnSpPr>
        <p:spPr>
          <a:xfrm flipV="1">
            <a:off x="5069783" y="4012565"/>
            <a:ext cx="12065" cy="2359025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文本框 86"/>
          <p:cNvSpPr txBox="1"/>
          <p:nvPr/>
        </p:nvSpPr>
        <p:spPr>
          <a:xfrm>
            <a:off x="12065635" y="5087620"/>
            <a:ext cx="1687195" cy="403860"/>
          </a:xfrm>
          <a:prstGeom prst="rect">
            <a:avLst/>
          </a:prstGeom>
        </p:spPr>
        <p:txBody>
          <a:bodyPr>
            <a:noAutofit/>
          </a:bodyPr>
          <a:lstStyle/>
          <a:p>
            <a:pPr algn="r"/>
            <a:r>
              <a:rPr lang="en-US" altLang="zh-CN" sz="2200" b="1" i="1">
                <a:solidFill>
                  <a:srgbClr val="000000"/>
                </a:solidFill>
                <a:latin typeface="Times New Roman" panose="02020603050405020304" charset="0"/>
                <a:ea typeface="TimesNewRomanPS-BoldItalicMT"/>
                <a:cs typeface="Times New Roman" panose="02020603050405020304" charset="0"/>
              </a:rPr>
              <a:t>5. Analyze</a:t>
            </a:r>
          </a:p>
        </p:txBody>
      </p:sp>
      <p:sp>
        <p:nvSpPr>
          <p:cNvPr id="88" name="文本框 87"/>
          <p:cNvSpPr txBox="1"/>
          <p:nvPr/>
        </p:nvSpPr>
        <p:spPr>
          <a:xfrm>
            <a:off x="6307773" y="6746238"/>
            <a:ext cx="2366010" cy="403860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/>
            <a:r>
              <a:rPr lang="en-US" altLang="zh-CN" sz="2200" b="1" i="1" dirty="0">
                <a:solidFill>
                  <a:srgbClr val="000000"/>
                </a:solidFill>
                <a:latin typeface="Times New Roman" panose="02020603050405020304" charset="0"/>
                <a:ea typeface="TimesNewRomanPS-BoldItalicMT"/>
                <a:cs typeface="Times New Roman" panose="02020603050405020304" charset="0"/>
              </a:rPr>
              <a:t>3. Assess risk</a:t>
            </a:r>
          </a:p>
        </p:txBody>
      </p:sp>
      <p:sp>
        <p:nvSpPr>
          <p:cNvPr id="89" name="文本框 88"/>
          <p:cNvSpPr txBox="1"/>
          <p:nvPr/>
        </p:nvSpPr>
        <p:spPr>
          <a:xfrm>
            <a:off x="8827770" y="4012565"/>
            <a:ext cx="2366010" cy="403860"/>
          </a:xfrm>
          <a:prstGeom prst="rect">
            <a:avLst/>
          </a:prstGeom>
        </p:spPr>
        <p:txBody>
          <a:bodyPr>
            <a:noAutofit/>
          </a:bodyPr>
          <a:lstStyle/>
          <a:p>
            <a:pPr algn="r"/>
            <a:r>
              <a:rPr lang="en-US" altLang="zh-CN" sz="2200" b="1" i="1">
                <a:solidFill>
                  <a:srgbClr val="000000"/>
                </a:solidFill>
                <a:latin typeface="Times New Roman" panose="02020603050405020304" charset="0"/>
                <a:ea typeface="TimesNewRomanPS-BoldItalicMT"/>
                <a:cs typeface="Times New Roman" panose="02020603050405020304" charset="0"/>
              </a:rPr>
              <a:t>4.Select context</a:t>
            </a:r>
          </a:p>
        </p:txBody>
      </p:sp>
      <p:sp>
        <p:nvSpPr>
          <p:cNvPr id="96" name="文本框 95"/>
          <p:cNvSpPr txBox="1"/>
          <p:nvPr/>
        </p:nvSpPr>
        <p:spPr>
          <a:xfrm>
            <a:off x="4888865" y="7350760"/>
            <a:ext cx="2526665" cy="4298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22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Current transaction</a:t>
            </a:r>
          </a:p>
        </p:txBody>
      </p:sp>
      <p:sp>
        <p:nvSpPr>
          <p:cNvPr id="101" name="Shape 74"/>
          <p:cNvSpPr/>
          <p:nvPr/>
        </p:nvSpPr>
        <p:spPr>
          <a:xfrm>
            <a:off x="9166225" y="4623435"/>
            <a:ext cx="2406650" cy="777240"/>
          </a:xfrm>
          <a:prstGeom prst="roundRect">
            <a:avLst/>
          </a:prstGeom>
          <a:solidFill>
            <a:srgbClr val="FFFFFF"/>
          </a:solidFill>
          <a:ln w="18000">
            <a:solidFill>
              <a:srgbClr val="000000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altLang="zh-CN" sz="2200" i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Risk hint(p)</a:t>
            </a:r>
            <a:endParaRPr lang="en-US" sz="2200" b="0" i="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102" name="连接符: 肘形 22"/>
          <p:cNvCxnSpPr>
            <a:stCxn id="16" idx="1"/>
            <a:endCxn id="74" idx="1"/>
          </p:cNvCxnSpPr>
          <p:nvPr/>
        </p:nvCxnSpPr>
        <p:spPr>
          <a:xfrm rot="5400000" flipV="1">
            <a:off x="5533073" y="4165918"/>
            <a:ext cx="705485" cy="6522720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文本框 104"/>
          <p:cNvSpPr txBox="1"/>
          <p:nvPr/>
        </p:nvSpPr>
        <p:spPr>
          <a:xfrm>
            <a:off x="6507520" y="4229467"/>
            <a:ext cx="2031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i="1" dirty="0">
                <a:latin typeface="Times New Roman" panose="02020603050405020304" charset="0"/>
                <a:cs typeface="Times New Roman" panose="02020603050405020304" charset="0"/>
              </a:rPr>
              <a:t>Below threshold: </a:t>
            </a:r>
          </a:p>
          <a:p>
            <a:pPr algn="ctr"/>
            <a:r>
              <a:rPr lang="en-US" altLang="zh-CN" i="1" dirty="0">
                <a:latin typeface="Times New Roman" panose="02020603050405020304" charset="0"/>
                <a:cs typeface="Times New Roman" panose="02020603050405020304" charset="0"/>
              </a:rPr>
              <a:t>omit retrieved cases</a:t>
            </a:r>
          </a:p>
        </p:txBody>
      </p:sp>
      <p:cxnSp>
        <p:nvCxnSpPr>
          <p:cNvPr id="108" name="直接箭头连接符 107"/>
          <p:cNvCxnSpPr>
            <a:stCxn id="71" idx="3"/>
            <a:endCxn id="110" idx="1"/>
          </p:cNvCxnSpPr>
          <p:nvPr/>
        </p:nvCxnSpPr>
        <p:spPr>
          <a:xfrm>
            <a:off x="11675110" y="6355715"/>
            <a:ext cx="67818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1" name="组合 110"/>
          <p:cNvGrpSpPr/>
          <p:nvPr/>
        </p:nvGrpSpPr>
        <p:grpSpPr>
          <a:xfrm>
            <a:off x="12353290" y="5491163"/>
            <a:ext cx="1079500" cy="1728470"/>
            <a:chOff x="24447" y="7880"/>
            <a:chExt cx="1700" cy="2722"/>
          </a:xfrm>
        </p:grpSpPr>
        <p:grpSp>
          <p:nvGrpSpPr>
            <p:cNvPr id="109" name="组合 108"/>
            <p:cNvGrpSpPr/>
            <p:nvPr/>
          </p:nvGrpSpPr>
          <p:grpSpPr>
            <a:xfrm>
              <a:off x="24563" y="8219"/>
              <a:ext cx="1470" cy="2044"/>
              <a:chOff x="24447" y="8334"/>
              <a:chExt cx="1470" cy="2044"/>
            </a:xfrm>
          </p:grpSpPr>
          <p:pic>
            <p:nvPicPr>
              <p:cNvPr id="6" name="图片 5" descr="图标&#10;&#10;AI 生成的内容可能不正确。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4447" y="8334"/>
                <a:ext cx="1470" cy="1280"/>
              </a:xfrm>
              <a:prstGeom prst="rect">
                <a:avLst/>
              </a:prstGeom>
            </p:spPr>
          </p:pic>
          <p:sp>
            <p:nvSpPr>
              <p:cNvPr id="27" name="文本框 26"/>
              <p:cNvSpPr txBox="1"/>
              <p:nvPr/>
            </p:nvSpPr>
            <p:spPr>
              <a:xfrm>
                <a:off x="24574" y="9702"/>
                <a:ext cx="1217" cy="6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200" dirty="0">
                    <a:latin typeface="Times New Roman" panose="02020603050405020304" charset="0"/>
                    <a:cs typeface="Times New Roman" panose="02020603050405020304" charset="0"/>
                  </a:rPr>
                  <a:t>LLM</a:t>
                </a:r>
              </a:p>
            </p:txBody>
          </p:sp>
        </p:grpSp>
        <p:sp>
          <p:nvSpPr>
            <p:cNvPr id="110" name="矩形 109"/>
            <p:cNvSpPr/>
            <p:nvPr/>
          </p:nvSpPr>
          <p:spPr>
            <a:xfrm>
              <a:off x="24447" y="7880"/>
              <a:ext cx="1701" cy="272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4" name="文本框 113"/>
          <p:cNvSpPr txBox="1"/>
          <p:nvPr/>
        </p:nvSpPr>
        <p:spPr>
          <a:xfrm>
            <a:off x="12353290" y="7444105"/>
            <a:ext cx="2818765" cy="724535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/>
            <a:r>
              <a:rPr lang="en-US" altLang="zh-CN" sz="2200" b="1" i="1">
                <a:solidFill>
                  <a:srgbClr val="000000"/>
                </a:solidFill>
                <a:latin typeface="Times New Roman" panose="02020603050405020304" charset="0"/>
                <a:ea typeface="TimesNewRomanPS-BoldItalicMT"/>
                <a:cs typeface="Times New Roman" panose="02020603050405020304" charset="0"/>
              </a:rPr>
              <a:t>DeFi Attack Detection</a:t>
            </a:r>
          </a:p>
        </p:txBody>
      </p:sp>
      <p:grpSp>
        <p:nvGrpSpPr>
          <p:cNvPr id="118" name="组合 117"/>
          <p:cNvGrpSpPr/>
          <p:nvPr/>
        </p:nvGrpSpPr>
        <p:grpSpPr>
          <a:xfrm>
            <a:off x="13380085" y="5898515"/>
            <a:ext cx="948055" cy="1005840"/>
            <a:chOff x="29171" y="10016"/>
            <a:chExt cx="1368" cy="1584"/>
          </a:xfrm>
        </p:grpSpPr>
        <p:cxnSp>
          <p:nvCxnSpPr>
            <p:cNvPr id="115" name="Connector 95"/>
            <p:cNvCxnSpPr/>
            <p:nvPr/>
          </p:nvCxnSpPr>
          <p:spPr>
            <a:xfrm>
              <a:off x="29171" y="10736"/>
              <a:ext cx="720" cy="0"/>
            </a:xfrm>
            <a:prstGeom prst="line">
              <a:avLst/>
            </a:prstGeom>
            <a:ln w="27432">
              <a:solidFill>
                <a:srgbClr val="000000"/>
              </a:solidFill>
            </a:ln>
          </p:spPr>
        </p:cxnSp>
        <p:cxnSp>
          <p:nvCxnSpPr>
            <p:cNvPr id="116" name="Connector 96"/>
            <p:cNvCxnSpPr/>
            <p:nvPr/>
          </p:nvCxnSpPr>
          <p:spPr>
            <a:xfrm flipV="1">
              <a:off x="29891" y="10016"/>
              <a:ext cx="648" cy="720"/>
            </a:xfrm>
            <a:prstGeom prst="line">
              <a:avLst/>
            </a:prstGeom>
            <a:ln w="27432">
              <a:solidFill>
                <a:srgbClr val="000000"/>
              </a:solidFill>
              <a:tailEnd type="triangle" w="med" len="med"/>
            </a:ln>
          </p:spPr>
        </p:cxnSp>
        <p:cxnSp>
          <p:nvCxnSpPr>
            <p:cNvPr id="117" name="Connector 97"/>
            <p:cNvCxnSpPr/>
            <p:nvPr/>
          </p:nvCxnSpPr>
          <p:spPr>
            <a:xfrm>
              <a:off x="29891" y="10736"/>
              <a:ext cx="648" cy="864"/>
            </a:xfrm>
            <a:prstGeom prst="line">
              <a:avLst/>
            </a:prstGeom>
            <a:ln w="27432">
              <a:solidFill>
                <a:srgbClr val="000000"/>
              </a:solidFill>
              <a:tailEnd type="triangle" w="med" len="med"/>
            </a:ln>
          </p:spPr>
        </p:cxnSp>
      </p:grpSp>
      <p:sp>
        <p:nvSpPr>
          <p:cNvPr id="120" name="文本框 119"/>
          <p:cNvSpPr txBox="1"/>
          <p:nvPr/>
        </p:nvSpPr>
        <p:spPr>
          <a:xfrm>
            <a:off x="14125575" y="5666423"/>
            <a:ext cx="1431925" cy="50609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en-US" altLang="zh-CN" sz="22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Attack</a:t>
            </a:r>
          </a:p>
        </p:txBody>
      </p:sp>
      <p:sp>
        <p:nvSpPr>
          <p:cNvPr id="121" name="文本框 120"/>
          <p:cNvSpPr txBox="1"/>
          <p:nvPr/>
        </p:nvSpPr>
        <p:spPr>
          <a:xfrm>
            <a:off x="14125575" y="6646228"/>
            <a:ext cx="1431925" cy="50609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en-US" altLang="zh-CN" sz="22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Benign</a:t>
            </a:r>
          </a:p>
        </p:txBody>
      </p:sp>
      <p:pic>
        <p:nvPicPr>
          <p:cNvPr id="65" name="图片 64" descr="图标&#10;&#10;AI 生成的内容可能不正确。"/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316335" y="4088130"/>
            <a:ext cx="774700" cy="673735"/>
          </a:xfrm>
          <a:prstGeom prst="rect">
            <a:avLst/>
          </a:prstGeom>
        </p:spPr>
      </p:pic>
      <p:sp>
        <p:nvSpPr>
          <p:cNvPr id="122" name="文本框 121"/>
          <p:cNvSpPr txBox="1"/>
          <p:nvPr/>
        </p:nvSpPr>
        <p:spPr>
          <a:xfrm>
            <a:off x="12046585" y="4140200"/>
            <a:ext cx="1014095" cy="3784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en-US" altLang="zh-CN" sz="22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Prompt</a:t>
            </a:r>
          </a:p>
        </p:txBody>
      </p:sp>
      <p:sp>
        <p:nvSpPr>
          <p:cNvPr id="5" name="左大括号 4"/>
          <p:cNvSpPr/>
          <p:nvPr/>
        </p:nvSpPr>
        <p:spPr>
          <a:xfrm>
            <a:off x="8538845" y="4622800"/>
            <a:ext cx="452120" cy="2586355"/>
          </a:xfrm>
          <a:prstGeom prst="leftBrace">
            <a:avLst>
              <a:gd name="adj1" fmla="val 38558"/>
              <a:gd name="adj2" fmla="val 23889"/>
            </a:avLst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8" name="图片 15" descr="图标&#10;&#10;AI 生成的内容可能不正确。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 rot="16200000">
            <a:off x="9241110" y="7713346"/>
            <a:ext cx="498292" cy="499745"/>
          </a:xfrm>
          <a:prstGeom prst="rect">
            <a:avLst/>
          </a:prstGeom>
        </p:spPr>
      </p:pic>
      <p:cxnSp>
        <p:nvCxnSpPr>
          <p:cNvPr id="97" name="直接箭头连接符 96"/>
          <p:cNvCxnSpPr>
            <a:stCxn id="11" idx="3"/>
            <a:endCxn id="79" idx="2"/>
          </p:cNvCxnSpPr>
          <p:nvPr/>
        </p:nvCxnSpPr>
        <p:spPr>
          <a:xfrm flipV="1">
            <a:off x="7501890" y="5594985"/>
            <a:ext cx="0" cy="50990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hape 4"/>
          <p:cNvSpPr/>
          <p:nvPr/>
        </p:nvSpPr>
        <p:spPr>
          <a:xfrm>
            <a:off x="6606540" y="6104890"/>
            <a:ext cx="1790700" cy="633095"/>
          </a:xfrm>
          <a:prstGeom prst="round2DiagRect">
            <a:avLst/>
          </a:prstGeom>
          <a:noFill/>
          <a:ln w="18000">
            <a:solidFill>
              <a:srgbClr val="000000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altLang="zh-CN" sz="22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XGBoost</a:t>
            </a:r>
            <a:endParaRPr lang="en-US" sz="22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6090285" y="4875530"/>
            <a:ext cx="2823210" cy="718820"/>
            <a:chOff x="10141" y="8616"/>
            <a:chExt cx="4446" cy="1132"/>
          </a:xfrm>
        </p:grpSpPr>
        <p:sp>
          <p:nvSpPr>
            <p:cNvPr id="107" name="文本框 106"/>
            <p:cNvSpPr txBox="1"/>
            <p:nvPr/>
          </p:nvSpPr>
          <p:spPr>
            <a:xfrm>
              <a:off x="10141" y="8740"/>
              <a:ext cx="4446" cy="87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dirty="0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Attack probability</a:t>
              </a:r>
              <a:endParaRPr lang="en-US" altLang="zh-CN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algn="ctr"/>
              <a:r>
                <a:rPr lang="en-US" altLang="zh-CN" dirty="0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p(Attack)</a:t>
              </a:r>
            </a:p>
          </p:txBody>
        </p:sp>
        <p:sp>
          <p:nvSpPr>
            <p:cNvPr id="79" name="Rounded Rectangle 78"/>
            <p:cNvSpPr/>
            <p:nvPr/>
          </p:nvSpPr>
          <p:spPr>
            <a:xfrm>
              <a:off x="10956" y="8616"/>
              <a:ext cx="2816" cy="1133"/>
            </a:xfrm>
            <a:prstGeom prst="roundRect">
              <a:avLst/>
            </a:prstGeom>
            <a:noFill/>
            <a:ln w="18034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8" name="直接箭头连接符 17"/>
          <p:cNvCxnSpPr/>
          <p:nvPr/>
        </p:nvCxnSpPr>
        <p:spPr>
          <a:xfrm flipV="1">
            <a:off x="4837373" y="4012565"/>
            <a:ext cx="0" cy="2359025"/>
          </a:xfrm>
          <a:prstGeom prst="straightConnector1">
            <a:avLst/>
          </a:prstGeom>
          <a:ln w="28575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图标&#10;&#10;AI 生成的内容可能不正确。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842770" y="1971675"/>
            <a:ext cx="824230" cy="680085"/>
          </a:xfrm>
          <a:prstGeom prst="rect">
            <a:avLst/>
          </a:prstGeom>
        </p:spPr>
      </p:pic>
      <p:pic>
        <p:nvPicPr>
          <p:cNvPr id="16" name="图片 15" descr="图标&#10;&#10;AI 生成的内容可能不正确。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 rot="16200000">
            <a:off x="1463675" y="4909820"/>
            <a:ext cx="1306195" cy="1310005"/>
          </a:xfrm>
          <a:prstGeom prst="rect">
            <a:avLst/>
          </a:prstGeom>
        </p:spPr>
      </p:pic>
      <p:cxnSp>
        <p:nvCxnSpPr>
          <p:cNvPr id="28" name="直接箭头连接符 27"/>
          <p:cNvCxnSpPr>
            <a:endCxn id="66" idx="0"/>
          </p:cNvCxnSpPr>
          <p:nvPr/>
        </p:nvCxnSpPr>
        <p:spPr>
          <a:xfrm flipH="1">
            <a:off x="2245361" y="2954020"/>
            <a:ext cx="1904" cy="131381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文本框 60"/>
          <p:cNvSpPr txBox="1"/>
          <p:nvPr/>
        </p:nvSpPr>
        <p:spPr>
          <a:xfrm rot="10800000" flipV="1">
            <a:off x="880745" y="2607310"/>
            <a:ext cx="2728595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00" dirty="0">
                <a:latin typeface="Times New Roman" panose="02020603050405020304" charset="0"/>
                <a:cs typeface="Times New Roman" panose="02020603050405020304" charset="0"/>
              </a:rPr>
              <a:t>Raw Transaction Data</a:t>
            </a:r>
          </a:p>
        </p:txBody>
      </p:sp>
      <p:sp>
        <p:nvSpPr>
          <p:cNvPr id="66" name="文本框 65"/>
          <p:cNvSpPr txBox="1"/>
          <p:nvPr/>
        </p:nvSpPr>
        <p:spPr>
          <a:xfrm>
            <a:off x="944940" y="4267835"/>
            <a:ext cx="260084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200" dirty="0">
                <a:latin typeface="Times New Roman" panose="02020603050405020304" charset="0"/>
                <a:cs typeface="Times New Roman" panose="02020603050405020304" charset="0"/>
              </a:rPr>
              <a:t>Pruned </a:t>
            </a:r>
            <a:r>
              <a:rPr lang="en-US" sz="2200" dirty="0">
                <a:latin typeface="Times New Roman" panose="02020603050405020304" charset="0"/>
                <a:cs typeface="Times New Roman" panose="02020603050405020304" charset="0"/>
              </a:rPr>
              <a:t>Target</a:t>
            </a:r>
            <a:endParaRPr lang="en-US" altLang="zh-CN" sz="22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zh-CN" sz="2200" dirty="0">
                <a:latin typeface="Times New Roman" panose="02020603050405020304" charset="0"/>
                <a:cs typeface="Times New Roman" panose="02020603050405020304" charset="0"/>
              </a:rPr>
              <a:t>Execution Trace Tree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66065" y="3147060"/>
            <a:ext cx="1841500" cy="395605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altLang="zh-CN" sz="2200" b="1" i="1">
                <a:solidFill>
                  <a:srgbClr val="000000"/>
                </a:solidFill>
                <a:latin typeface="Times New Roman" panose="02020603050405020304" charset="0"/>
                <a:ea typeface="TimesNewRomanPS-BoldItalicMT"/>
                <a:cs typeface="Times New Roman" panose="02020603050405020304" charset="0"/>
              </a:rPr>
              <a:t>1. Preprocess</a:t>
            </a:r>
          </a:p>
        </p:txBody>
      </p:sp>
      <p:pic>
        <p:nvPicPr>
          <p:cNvPr id="7" name="Picture 19" descr="Database icon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9145" y="2651760"/>
            <a:ext cx="976630" cy="850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文本框 40"/>
          <p:cNvSpPr txBox="1"/>
          <p:nvPr/>
        </p:nvSpPr>
        <p:spPr>
          <a:xfrm>
            <a:off x="11153775" y="650875"/>
            <a:ext cx="1727200" cy="7061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2200" dirty="0">
                <a:latin typeface="Times New Roman" panose="02020603050405020304" charset="0"/>
                <a:cs typeface="Times New Roman" panose="02020603050405020304" charset="0"/>
              </a:rPr>
              <a:t>Attack </a:t>
            </a:r>
          </a:p>
          <a:p>
            <a:pPr algn="ctr"/>
            <a:r>
              <a:rPr lang="en-US" altLang="zh-CN" sz="2200" dirty="0">
                <a:latin typeface="Times New Roman" panose="02020603050405020304" charset="0"/>
                <a:cs typeface="Times New Roman" panose="02020603050405020304" charset="0"/>
              </a:rPr>
              <a:t>Transactions</a:t>
            </a:r>
          </a:p>
        </p:txBody>
      </p:sp>
      <p:sp>
        <p:nvSpPr>
          <p:cNvPr id="42" name="文本框 41"/>
          <p:cNvSpPr txBox="1"/>
          <p:nvPr/>
        </p:nvSpPr>
        <p:spPr>
          <a:xfrm>
            <a:off x="4084320" y="2004060"/>
            <a:ext cx="2425700" cy="768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200" i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History Knowledge </a:t>
            </a:r>
          </a:p>
          <a:p>
            <a:pPr algn="ctr"/>
            <a:r>
              <a:rPr lang="en-US" altLang="zh-CN" sz="2200" i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Construction</a:t>
            </a:r>
          </a:p>
        </p:txBody>
      </p:sp>
      <p:cxnSp>
        <p:nvCxnSpPr>
          <p:cNvPr id="47" name="直接箭头连接符 46"/>
          <p:cNvCxnSpPr>
            <a:stCxn id="15" idx="0"/>
            <a:endCxn id="41" idx="1"/>
          </p:cNvCxnSpPr>
          <p:nvPr/>
        </p:nvCxnSpPr>
        <p:spPr>
          <a:xfrm flipV="1">
            <a:off x="8503285" y="1003935"/>
            <a:ext cx="2650490" cy="12065"/>
          </a:xfrm>
          <a:prstGeom prst="straightConnector1">
            <a:avLst/>
          </a:prstGeom>
          <a:ln w="28575">
            <a:solidFill>
              <a:srgbClr val="96969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/>
          <p:cNvCxnSpPr>
            <a:stCxn id="41" idx="2"/>
            <a:endCxn id="34" idx="0"/>
          </p:cNvCxnSpPr>
          <p:nvPr/>
        </p:nvCxnSpPr>
        <p:spPr>
          <a:xfrm>
            <a:off x="12017375" y="1356995"/>
            <a:ext cx="635" cy="1402080"/>
          </a:xfrm>
          <a:prstGeom prst="straightConnector1">
            <a:avLst/>
          </a:prstGeom>
          <a:ln w="28575">
            <a:solidFill>
              <a:srgbClr val="96969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矩形: 圆角 67"/>
          <p:cNvSpPr/>
          <p:nvPr/>
        </p:nvSpPr>
        <p:spPr>
          <a:xfrm>
            <a:off x="3930650" y="467360"/>
            <a:ext cx="9359265" cy="3184525"/>
          </a:xfrm>
          <a:prstGeom prst="roundRect">
            <a:avLst/>
          </a:prstGeom>
          <a:noFill/>
          <a:ln w="28575">
            <a:solidFill>
              <a:schemeClr val="tx1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1" name="Shape 71"/>
          <p:cNvSpPr/>
          <p:nvPr/>
        </p:nvSpPr>
        <p:spPr>
          <a:xfrm>
            <a:off x="11153775" y="4284345"/>
            <a:ext cx="2630805" cy="3973830"/>
          </a:xfrm>
          <a:prstGeom prst="roundRect">
            <a:avLst>
              <a:gd name="adj" fmla="val 9413"/>
            </a:avLst>
          </a:prstGeom>
          <a:solidFill>
            <a:srgbClr val="FFFFFF"/>
          </a:solidFill>
          <a:ln w="18000">
            <a:solidFill>
              <a:srgbClr val="00000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2"/>
          <p:cNvSpPr/>
          <p:nvPr/>
        </p:nvSpPr>
        <p:spPr>
          <a:xfrm>
            <a:off x="11256645" y="5471795"/>
            <a:ext cx="2406650" cy="777240"/>
          </a:xfrm>
          <a:prstGeom prst="roundRect">
            <a:avLst/>
          </a:prstGeom>
          <a:solidFill>
            <a:srgbClr val="FFFFFF"/>
          </a:solidFill>
          <a:ln w="18000">
            <a:solidFill>
              <a:srgbClr val="000000"/>
            </a:solidFill>
            <a:prstDash val="dash"/>
          </a:ln>
        </p:spPr>
        <p:txBody>
          <a:bodyPr lIns="0" tIns="0" rIns="0" bIns="0" anchor="ctr"/>
          <a:lstStyle/>
          <a:p>
            <a:pPr algn="ctr"/>
            <a:r>
              <a:rPr lang="en-US" sz="2200" b="0" i="0" dirty="0">
                <a:latin typeface="Times New Roman" panose="02020603050405020304" charset="0"/>
                <a:cs typeface="Times New Roman" panose="02020603050405020304" charset="0"/>
              </a:rPr>
              <a:t>Reference#1</a:t>
            </a:r>
          </a:p>
          <a:p>
            <a:pPr algn="ctr"/>
            <a:r>
              <a:rPr lang="en-US" sz="2200" b="0" i="0" dirty="0" err="1">
                <a:latin typeface="Times New Roman" panose="02020603050405020304" charset="0"/>
                <a:cs typeface="Times New Roman" panose="02020603050405020304" charset="0"/>
              </a:rPr>
              <a:t>summary&amp;trace</a:t>
            </a:r>
            <a:endParaRPr lang="en-US" sz="2200" b="0" i="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3" name="Shape 73"/>
          <p:cNvSpPr/>
          <p:nvPr/>
        </p:nvSpPr>
        <p:spPr>
          <a:xfrm>
            <a:off x="11256645" y="6431915"/>
            <a:ext cx="2406650" cy="777240"/>
          </a:xfrm>
          <a:prstGeom prst="roundRect">
            <a:avLst/>
          </a:prstGeom>
          <a:solidFill>
            <a:srgbClr val="FFFFFF"/>
          </a:solidFill>
          <a:ln w="18000">
            <a:solidFill>
              <a:srgbClr val="000000"/>
            </a:solidFill>
            <a:prstDash val="dash"/>
          </a:ln>
        </p:spPr>
        <p:txBody>
          <a:bodyPr lIns="0" tIns="0" rIns="0" bIns="0" anchor="ctr"/>
          <a:lstStyle/>
          <a:p>
            <a:pPr algn="ctr"/>
            <a:r>
              <a:rPr lang="en-US" sz="2200" b="0" i="0">
                <a:latin typeface="Times New Roman" panose="02020603050405020304" charset="0"/>
                <a:cs typeface="Times New Roman" panose="02020603050405020304" charset="0"/>
              </a:rPr>
              <a:t>Reference#k</a:t>
            </a:r>
          </a:p>
          <a:p>
            <a:pPr algn="ctr"/>
            <a:r>
              <a:rPr lang="en-US" sz="2200" b="0" i="0">
                <a:latin typeface="Times New Roman" panose="02020603050405020304" charset="0"/>
                <a:cs typeface="Times New Roman" panose="02020603050405020304" charset="0"/>
              </a:rPr>
              <a:t>summary&amp;trace</a:t>
            </a:r>
          </a:p>
        </p:txBody>
      </p:sp>
      <p:sp>
        <p:nvSpPr>
          <p:cNvPr id="74" name="Shape 74"/>
          <p:cNvSpPr/>
          <p:nvPr/>
        </p:nvSpPr>
        <p:spPr>
          <a:xfrm>
            <a:off x="11256645" y="7392035"/>
            <a:ext cx="2406650" cy="777240"/>
          </a:xfrm>
          <a:prstGeom prst="roundRect">
            <a:avLst/>
          </a:prstGeom>
          <a:solidFill>
            <a:srgbClr val="FFFFFF"/>
          </a:solidFill>
          <a:ln w="18000">
            <a:solidFill>
              <a:srgbClr val="000000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2200" b="0" i="0" dirty="0">
                <a:latin typeface="Times New Roman" panose="02020603050405020304" charset="0"/>
                <a:cs typeface="Times New Roman" panose="02020603050405020304" charset="0"/>
              </a:rPr>
              <a:t>Target execution</a:t>
            </a:r>
          </a:p>
          <a:p>
            <a:pPr algn="ctr"/>
            <a:r>
              <a:rPr lang="en-US" sz="2200" b="0" i="0" dirty="0">
                <a:latin typeface="Times New Roman" panose="02020603050405020304" charset="0"/>
                <a:cs typeface="Times New Roman" panose="02020603050405020304" charset="0"/>
              </a:rPr>
              <a:t>trace</a:t>
            </a:r>
            <a:r>
              <a:rPr lang="zh-CN" altLang="en-US" sz="2200" b="0" i="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zh-CN" sz="2200" b="0" i="0" dirty="0">
                <a:latin typeface="Times New Roman" panose="02020603050405020304" charset="0"/>
                <a:cs typeface="Times New Roman" panose="02020603050405020304" charset="0"/>
              </a:rPr>
              <a:t>tree</a:t>
            </a:r>
            <a:endParaRPr lang="en-US" sz="2200" b="0" i="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Shape 75"/>
          <p:cNvSpPr/>
          <p:nvPr/>
        </p:nvSpPr>
        <p:spPr>
          <a:xfrm>
            <a:off x="12247880" y="6100445"/>
            <a:ext cx="379095" cy="2597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2200" b="0" i="0">
                <a:latin typeface="Times New Roman" panose="02020603050405020304" charset="0"/>
                <a:cs typeface="Times New Roman" panose="02020603050405020304" charset="0"/>
              </a:rPr>
              <a:t>...</a:t>
            </a:r>
          </a:p>
        </p:txBody>
      </p:sp>
      <p:sp>
        <p:nvSpPr>
          <p:cNvPr id="15" name="Shape 4"/>
          <p:cNvSpPr/>
          <p:nvPr/>
        </p:nvSpPr>
        <p:spPr>
          <a:xfrm>
            <a:off x="6345555" y="698818"/>
            <a:ext cx="2157730" cy="633095"/>
          </a:xfrm>
          <a:prstGeom prst="round2DiagRect">
            <a:avLst/>
          </a:prstGeom>
          <a:noFill/>
          <a:ln w="18000">
            <a:solidFill>
              <a:srgbClr val="000000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2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Exploit Scripts</a:t>
            </a:r>
          </a:p>
        </p:txBody>
      </p:sp>
      <p:pic>
        <p:nvPicPr>
          <p:cNvPr id="21" name="图片 20" descr="图标&#10;&#10;AI 生成的内容可能不正确。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55865" y="1460500"/>
            <a:ext cx="933450" cy="812800"/>
          </a:xfrm>
          <a:prstGeom prst="rect">
            <a:avLst/>
          </a:prstGeom>
        </p:spPr>
      </p:pic>
      <p:sp>
        <p:nvSpPr>
          <p:cNvPr id="23" name="文本框 22"/>
          <p:cNvSpPr txBox="1"/>
          <p:nvPr/>
        </p:nvSpPr>
        <p:spPr>
          <a:xfrm>
            <a:off x="7675245" y="2329180"/>
            <a:ext cx="772795" cy="4298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200" dirty="0">
                <a:latin typeface="Times New Roman" panose="02020603050405020304" charset="0"/>
                <a:cs typeface="Times New Roman" panose="02020603050405020304" charset="0"/>
              </a:rPr>
              <a:t>LLM</a:t>
            </a:r>
          </a:p>
        </p:txBody>
      </p:sp>
      <p:cxnSp>
        <p:nvCxnSpPr>
          <p:cNvPr id="24" name="直接箭头连接符 23"/>
          <p:cNvCxnSpPr>
            <a:stCxn id="15" idx="1"/>
            <a:endCxn id="26" idx="0"/>
          </p:cNvCxnSpPr>
          <p:nvPr/>
        </p:nvCxnSpPr>
        <p:spPr>
          <a:xfrm>
            <a:off x="7424420" y="1332230"/>
            <a:ext cx="0" cy="1440180"/>
          </a:xfrm>
          <a:prstGeom prst="straightConnector1">
            <a:avLst/>
          </a:prstGeom>
          <a:ln w="28575">
            <a:solidFill>
              <a:srgbClr val="96969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/>
        </p:nvSpPr>
        <p:spPr>
          <a:xfrm>
            <a:off x="8853170" y="2772093"/>
            <a:ext cx="1828800" cy="768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2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Vector</a:t>
            </a:r>
          </a:p>
          <a:p>
            <a:pPr algn="ctr"/>
            <a:r>
              <a:rPr lang="en-US" altLang="zh-CN" sz="22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Database</a:t>
            </a:r>
            <a:endParaRPr lang="zh-CN" altLang="en-US" sz="22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6510020" y="2772093"/>
            <a:ext cx="1828800" cy="768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2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Summary</a:t>
            </a:r>
          </a:p>
          <a:p>
            <a:pPr algn="ctr"/>
            <a:r>
              <a:rPr lang="en-US" altLang="zh-CN" sz="22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Metadata</a:t>
            </a:r>
          </a:p>
        </p:txBody>
      </p:sp>
      <p:cxnSp>
        <p:nvCxnSpPr>
          <p:cNvPr id="32" name="直接箭头连接符 31"/>
          <p:cNvCxnSpPr>
            <a:stCxn id="34" idx="1"/>
          </p:cNvCxnSpPr>
          <p:nvPr/>
        </p:nvCxnSpPr>
        <p:spPr>
          <a:xfrm flipH="1">
            <a:off x="10414635" y="3143250"/>
            <a:ext cx="948055" cy="13335"/>
          </a:xfrm>
          <a:prstGeom prst="straightConnector1">
            <a:avLst/>
          </a:prstGeom>
          <a:ln w="28575">
            <a:solidFill>
              <a:srgbClr val="96969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/>
        </p:nvSpPr>
        <p:spPr>
          <a:xfrm>
            <a:off x="10432415" y="2720340"/>
            <a:ext cx="1235710" cy="43624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US" altLang="zh-CN" sz="2200" i="1" dirty="0">
                <a:latin typeface="Times New Roman" panose="02020603050405020304" charset="0"/>
                <a:cs typeface="Times New Roman" panose="02020603050405020304" charset="0"/>
              </a:rPr>
              <a:t>embed</a:t>
            </a:r>
          </a:p>
        </p:txBody>
      </p:sp>
      <p:sp>
        <p:nvSpPr>
          <p:cNvPr id="34" name="文本框 33"/>
          <p:cNvSpPr txBox="1"/>
          <p:nvPr/>
        </p:nvSpPr>
        <p:spPr>
          <a:xfrm>
            <a:off x="11362373" y="2759075"/>
            <a:ext cx="1310005" cy="768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2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Behavior </a:t>
            </a:r>
            <a:endParaRPr lang="en-US" altLang="zh-CN" sz="22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zh-CN" sz="22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Traces</a:t>
            </a:r>
            <a:endParaRPr lang="zh-CN" altLang="en-US" sz="22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9446260" y="567690"/>
            <a:ext cx="1235710" cy="43624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US" altLang="zh-CN" sz="2200" i="1" dirty="0">
                <a:latin typeface="Times New Roman" panose="02020603050405020304" charset="0"/>
                <a:cs typeface="Times New Roman" panose="02020603050405020304" charset="0"/>
              </a:rPr>
              <a:t>simulate</a:t>
            </a:r>
          </a:p>
        </p:txBody>
      </p:sp>
      <p:sp>
        <p:nvSpPr>
          <p:cNvPr id="57" name="文本框 56"/>
          <p:cNvSpPr txBox="1"/>
          <p:nvPr/>
        </p:nvSpPr>
        <p:spPr>
          <a:xfrm>
            <a:off x="12088495" y="1835785"/>
            <a:ext cx="1235710" cy="43624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US" altLang="zh-CN" sz="2200" i="1" dirty="0">
                <a:latin typeface="Times New Roman" panose="02020603050405020304" charset="0"/>
                <a:cs typeface="Times New Roman" panose="02020603050405020304" charset="0"/>
              </a:rPr>
              <a:t>sanitize</a:t>
            </a:r>
          </a:p>
        </p:txBody>
      </p:sp>
      <p:sp>
        <p:nvSpPr>
          <p:cNvPr id="58" name="文本框 57"/>
          <p:cNvSpPr txBox="1"/>
          <p:nvPr/>
        </p:nvSpPr>
        <p:spPr>
          <a:xfrm>
            <a:off x="4830690" y="4128053"/>
            <a:ext cx="1558925" cy="724535"/>
          </a:xfrm>
          <a:prstGeom prst="rect">
            <a:avLst/>
          </a:prstGeom>
        </p:spPr>
        <p:txBody>
          <a:bodyPr>
            <a:noAutofit/>
          </a:bodyPr>
          <a:lstStyle/>
          <a:p>
            <a:pPr algn="r"/>
            <a:r>
              <a:rPr lang="en-US" altLang="zh-CN" sz="2200" b="1" i="1" dirty="0">
                <a:solidFill>
                  <a:srgbClr val="000000"/>
                </a:solidFill>
                <a:latin typeface="Times New Roman" panose="02020603050405020304" charset="0"/>
                <a:ea typeface="TimesNewRomanPS-BoldItalicMT"/>
                <a:cs typeface="Times New Roman" panose="02020603050405020304" charset="0"/>
              </a:rPr>
              <a:t>2. Query &amp;</a:t>
            </a:r>
          </a:p>
          <a:p>
            <a:pPr algn="r"/>
            <a:r>
              <a:rPr lang="en-US" altLang="zh-CN" sz="2200" b="1" i="1" dirty="0">
                <a:solidFill>
                  <a:srgbClr val="000000"/>
                </a:solidFill>
                <a:latin typeface="Times New Roman" panose="02020603050405020304" charset="0"/>
                <a:ea typeface="TimesNewRomanPS-BoldItalicMT"/>
                <a:cs typeface="Times New Roman" panose="02020603050405020304" charset="0"/>
              </a:rPr>
              <a:t>Retrieval</a:t>
            </a:r>
          </a:p>
        </p:txBody>
      </p:sp>
      <p:sp>
        <p:nvSpPr>
          <p:cNvPr id="59" name="文本框 58"/>
          <p:cNvSpPr txBox="1"/>
          <p:nvPr/>
        </p:nvSpPr>
        <p:spPr>
          <a:xfrm>
            <a:off x="8406765" y="2895600"/>
            <a:ext cx="38354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latin typeface="Times New Roman" panose="02020603050405020304" charset="0"/>
                <a:cs typeface="Times New Roman" panose="02020603050405020304" charset="0"/>
              </a:rPr>
              <a:t>+</a:t>
            </a:r>
          </a:p>
        </p:txBody>
      </p:sp>
      <p:pic>
        <p:nvPicPr>
          <p:cNvPr id="63" name="图片 62" descr="图标&#10;&#10;AI 生成的内容可能不正确。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41294" y="5433054"/>
            <a:ext cx="424861" cy="431950"/>
          </a:xfrm>
          <a:prstGeom prst="rect">
            <a:avLst/>
          </a:prstGeom>
        </p:spPr>
      </p:pic>
      <p:sp>
        <p:nvSpPr>
          <p:cNvPr id="69" name="文本框 68"/>
          <p:cNvSpPr txBox="1"/>
          <p:nvPr/>
        </p:nvSpPr>
        <p:spPr>
          <a:xfrm>
            <a:off x="4351781" y="5913566"/>
            <a:ext cx="139448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200" dirty="0">
                <a:latin typeface="Times New Roman" panose="02020603050405020304" charset="0"/>
                <a:cs typeface="Times New Roman" panose="02020603050405020304" charset="0"/>
              </a:rPr>
              <a:t>Top-</a:t>
            </a:r>
            <a:r>
              <a:rPr lang="en-US" altLang="zh-CN" sz="2200" i="1" dirty="0">
                <a:latin typeface="Times New Roman" panose="02020603050405020304" charset="0"/>
                <a:cs typeface="Times New Roman" panose="02020603050405020304" charset="0"/>
              </a:rPr>
              <a:t>k</a:t>
            </a:r>
            <a:r>
              <a:rPr lang="en-US" altLang="zh-CN" sz="2200" dirty="0">
                <a:latin typeface="Times New Roman" panose="02020603050405020304" charset="0"/>
                <a:cs typeface="Times New Roman" panose="02020603050405020304" charset="0"/>
              </a:rPr>
              <a:t> case</a:t>
            </a:r>
            <a:endParaRPr lang="zh-CN" altLang="en-US" sz="22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70" name="直接箭头连接符 69"/>
          <p:cNvCxnSpPr/>
          <p:nvPr/>
        </p:nvCxnSpPr>
        <p:spPr>
          <a:xfrm flipV="1">
            <a:off x="2771775" y="5816571"/>
            <a:ext cx="1753235" cy="2584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箭头连接符 79"/>
          <p:cNvCxnSpPr/>
          <p:nvPr/>
        </p:nvCxnSpPr>
        <p:spPr>
          <a:xfrm flipV="1">
            <a:off x="4910398" y="3885150"/>
            <a:ext cx="4154" cy="1303435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文本框 86"/>
          <p:cNvSpPr txBox="1"/>
          <p:nvPr/>
        </p:nvSpPr>
        <p:spPr>
          <a:xfrm>
            <a:off x="14444345" y="5032375"/>
            <a:ext cx="1687195" cy="403860"/>
          </a:xfrm>
          <a:prstGeom prst="rect">
            <a:avLst/>
          </a:prstGeom>
        </p:spPr>
        <p:txBody>
          <a:bodyPr>
            <a:noAutofit/>
          </a:bodyPr>
          <a:lstStyle/>
          <a:p>
            <a:pPr algn="r"/>
            <a:r>
              <a:rPr lang="en-US" altLang="zh-CN" sz="2200" b="1" i="1">
                <a:solidFill>
                  <a:srgbClr val="000000"/>
                </a:solidFill>
                <a:latin typeface="Times New Roman" panose="02020603050405020304" charset="0"/>
                <a:ea typeface="TimesNewRomanPS-BoldItalicMT"/>
                <a:cs typeface="Times New Roman" panose="02020603050405020304" charset="0"/>
              </a:rPr>
              <a:t>5. Analyze</a:t>
            </a:r>
          </a:p>
        </p:txBody>
      </p:sp>
      <p:sp>
        <p:nvSpPr>
          <p:cNvPr id="88" name="文本框 87"/>
          <p:cNvSpPr txBox="1"/>
          <p:nvPr/>
        </p:nvSpPr>
        <p:spPr>
          <a:xfrm>
            <a:off x="5695632" y="6219150"/>
            <a:ext cx="2366010" cy="403860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/>
            <a:r>
              <a:rPr lang="en-US" altLang="zh-CN" sz="2200" b="1" i="1" dirty="0">
                <a:solidFill>
                  <a:srgbClr val="000000"/>
                </a:solidFill>
                <a:latin typeface="Times New Roman" panose="02020603050405020304" charset="0"/>
                <a:ea typeface="TimesNewRomanPS-BoldItalicMT"/>
                <a:cs typeface="Times New Roman" panose="02020603050405020304" charset="0"/>
              </a:rPr>
              <a:t>3. Assess risk</a:t>
            </a:r>
          </a:p>
        </p:txBody>
      </p:sp>
      <p:sp>
        <p:nvSpPr>
          <p:cNvPr id="89" name="文本框 88"/>
          <p:cNvSpPr txBox="1"/>
          <p:nvPr/>
        </p:nvSpPr>
        <p:spPr>
          <a:xfrm>
            <a:off x="11059795" y="3820160"/>
            <a:ext cx="2366010" cy="403860"/>
          </a:xfrm>
          <a:prstGeom prst="rect">
            <a:avLst/>
          </a:prstGeom>
        </p:spPr>
        <p:txBody>
          <a:bodyPr>
            <a:noAutofit/>
          </a:bodyPr>
          <a:lstStyle/>
          <a:p>
            <a:pPr algn="r"/>
            <a:r>
              <a:rPr lang="en-US" altLang="zh-CN" sz="2200" b="1" i="1">
                <a:solidFill>
                  <a:srgbClr val="000000"/>
                </a:solidFill>
                <a:latin typeface="Times New Roman" panose="02020603050405020304" charset="0"/>
                <a:ea typeface="TimesNewRomanPS-BoldItalicMT"/>
                <a:cs typeface="Times New Roman" panose="02020603050405020304" charset="0"/>
              </a:rPr>
              <a:t>4.Select context</a:t>
            </a:r>
          </a:p>
        </p:txBody>
      </p:sp>
      <p:sp>
        <p:nvSpPr>
          <p:cNvPr id="96" name="文本框 95"/>
          <p:cNvSpPr txBox="1"/>
          <p:nvPr/>
        </p:nvSpPr>
        <p:spPr>
          <a:xfrm>
            <a:off x="6523355" y="7884795"/>
            <a:ext cx="2526665" cy="4298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22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Current transaction</a:t>
            </a:r>
          </a:p>
        </p:txBody>
      </p:sp>
      <p:cxnSp>
        <p:nvCxnSpPr>
          <p:cNvPr id="97" name="直接箭头连接符 96"/>
          <p:cNvCxnSpPr>
            <a:stCxn id="11" idx="0"/>
            <a:endCxn id="79" idx="1"/>
          </p:cNvCxnSpPr>
          <p:nvPr/>
        </p:nvCxnSpPr>
        <p:spPr>
          <a:xfrm flipV="1">
            <a:off x="7872730" y="5830620"/>
            <a:ext cx="548788" cy="1179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Shape 74"/>
          <p:cNvSpPr/>
          <p:nvPr/>
        </p:nvSpPr>
        <p:spPr>
          <a:xfrm>
            <a:off x="11275695" y="4518660"/>
            <a:ext cx="2406650" cy="777240"/>
          </a:xfrm>
          <a:prstGeom prst="roundRect">
            <a:avLst/>
          </a:prstGeom>
          <a:solidFill>
            <a:srgbClr val="FFFFFF"/>
          </a:solidFill>
          <a:ln w="18000">
            <a:solidFill>
              <a:srgbClr val="000000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altLang="zh-CN" sz="2200" i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Risk hint(p)</a:t>
            </a:r>
            <a:endParaRPr lang="en-US" sz="2200" b="0" i="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102" name="连接符: 肘形 22"/>
          <p:cNvCxnSpPr>
            <a:stCxn id="16" idx="1"/>
          </p:cNvCxnSpPr>
          <p:nvPr/>
        </p:nvCxnSpPr>
        <p:spPr>
          <a:xfrm rot="16200000" flipH="1">
            <a:off x="5772907" y="2561785"/>
            <a:ext cx="1571701" cy="8883969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文本框 104"/>
          <p:cNvSpPr txBox="1"/>
          <p:nvPr/>
        </p:nvSpPr>
        <p:spPr>
          <a:xfrm>
            <a:off x="8330892" y="6215070"/>
            <a:ext cx="2031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</a:rPr>
              <a:t>Below threshold: </a:t>
            </a:r>
          </a:p>
          <a:p>
            <a:pPr algn="ctr"/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</a:rPr>
              <a:t>omit retrieved cases</a:t>
            </a:r>
          </a:p>
        </p:txBody>
      </p:sp>
      <p:sp>
        <p:nvSpPr>
          <p:cNvPr id="107" name="文本框 106"/>
          <p:cNvSpPr txBox="1"/>
          <p:nvPr/>
        </p:nvSpPr>
        <p:spPr>
          <a:xfrm>
            <a:off x="7946390" y="5549809"/>
            <a:ext cx="2823210" cy="5537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Attack probability</a:t>
            </a:r>
            <a:endParaRPr lang="en-US" altLang="zh-CN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p(Attack)</a:t>
            </a:r>
          </a:p>
        </p:txBody>
      </p:sp>
      <p:cxnSp>
        <p:nvCxnSpPr>
          <p:cNvPr id="108" name="直接箭头连接符 107"/>
          <p:cNvCxnSpPr>
            <a:stCxn id="71" idx="3"/>
            <a:endCxn id="110" idx="1"/>
          </p:cNvCxnSpPr>
          <p:nvPr/>
        </p:nvCxnSpPr>
        <p:spPr>
          <a:xfrm>
            <a:off x="13784580" y="6271260"/>
            <a:ext cx="94742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1" name="组合 110"/>
          <p:cNvGrpSpPr/>
          <p:nvPr/>
        </p:nvGrpSpPr>
        <p:grpSpPr>
          <a:xfrm>
            <a:off x="14732000" y="5407025"/>
            <a:ext cx="1079500" cy="1728470"/>
            <a:chOff x="24447" y="7880"/>
            <a:chExt cx="1700" cy="2722"/>
          </a:xfrm>
        </p:grpSpPr>
        <p:grpSp>
          <p:nvGrpSpPr>
            <p:cNvPr id="109" name="组合 108"/>
            <p:cNvGrpSpPr/>
            <p:nvPr/>
          </p:nvGrpSpPr>
          <p:grpSpPr>
            <a:xfrm>
              <a:off x="24563" y="8219"/>
              <a:ext cx="1470" cy="2044"/>
              <a:chOff x="24447" y="8334"/>
              <a:chExt cx="1470" cy="2044"/>
            </a:xfrm>
          </p:grpSpPr>
          <p:pic>
            <p:nvPicPr>
              <p:cNvPr id="6" name="图片 5" descr="图标&#10;&#10;AI 生成的内容可能不正确。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4447" y="8334"/>
                <a:ext cx="1470" cy="1280"/>
              </a:xfrm>
              <a:prstGeom prst="rect">
                <a:avLst/>
              </a:prstGeom>
            </p:spPr>
          </p:pic>
          <p:sp>
            <p:nvSpPr>
              <p:cNvPr id="27" name="文本框 26"/>
              <p:cNvSpPr txBox="1"/>
              <p:nvPr/>
            </p:nvSpPr>
            <p:spPr>
              <a:xfrm>
                <a:off x="24574" y="9702"/>
                <a:ext cx="1217" cy="6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200" dirty="0">
                    <a:latin typeface="Times New Roman" panose="02020603050405020304" charset="0"/>
                    <a:cs typeface="Times New Roman" panose="02020603050405020304" charset="0"/>
                  </a:rPr>
                  <a:t>LLM</a:t>
                </a:r>
              </a:p>
            </p:txBody>
          </p:sp>
        </p:grpSp>
        <p:sp>
          <p:nvSpPr>
            <p:cNvPr id="110" name="矩形 109"/>
            <p:cNvSpPr/>
            <p:nvPr/>
          </p:nvSpPr>
          <p:spPr>
            <a:xfrm>
              <a:off x="24447" y="7880"/>
              <a:ext cx="1701" cy="272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4" name="文本框 113"/>
          <p:cNvSpPr txBox="1"/>
          <p:nvPr/>
        </p:nvSpPr>
        <p:spPr>
          <a:xfrm>
            <a:off x="14805660" y="7444740"/>
            <a:ext cx="2818765" cy="724535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/>
            <a:r>
              <a:rPr lang="en-US" altLang="zh-CN" sz="2200" b="1" i="1">
                <a:solidFill>
                  <a:srgbClr val="000000"/>
                </a:solidFill>
                <a:latin typeface="Times New Roman" panose="02020603050405020304" charset="0"/>
                <a:ea typeface="TimesNewRomanPS-BoldItalicMT"/>
                <a:cs typeface="Times New Roman" panose="02020603050405020304" charset="0"/>
              </a:rPr>
              <a:t>DeFi Attack Detection</a:t>
            </a:r>
          </a:p>
        </p:txBody>
      </p:sp>
      <p:grpSp>
        <p:nvGrpSpPr>
          <p:cNvPr id="118" name="组合 117"/>
          <p:cNvGrpSpPr/>
          <p:nvPr/>
        </p:nvGrpSpPr>
        <p:grpSpPr>
          <a:xfrm>
            <a:off x="15803880" y="5768340"/>
            <a:ext cx="1048385" cy="1005840"/>
            <a:chOff x="29171" y="10016"/>
            <a:chExt cx="1368" cy="1584"/>
          </a:xfrm>
        </p:grpSpPr>
        <p:cxnSp>
          <p:nvCxnSpPr>
            <p:cNvPr id="115" name="Connector 95"/>
            <p:cNvCxnSpPr/>
            <p:nvPr/>
          </p:nvCxnSpPr>
          <p:spPr>
            <a:xfrm>
              <a:off x="29171" y="10736"/>
              <a:ext cx="720" cy="0"/>
            </a:xfrm>
            <a:prstGeom prst="line">
              <a:avLst/>
            </a:prstGeom>
            <a:ln w="27432">
              <a:solidFill>
                <a:srgbClr val="000000"/>
              </a:solidFill>
            </a:ln>
          </p:spPr>
        </p:cxnSp>
        <p:cxnSp>
          <p:nvCxnSpPr>
            <p:cNvPr id="116" name="Connector 96"/>
            <p:cNvCxnSpPr/>
            <p:nvPr/>
          </p:nvCxnSpPr>
          <p:spPr>
            <a:xfrm flipV="1">
              <a:off x="29891" y="10016"/>
              <a:ext cx="648" cy="720"/>
            </a:xfrm>
            <a:prstGeom prst="line">
              <a:avLst/>
            </a:prstGeom>
            <a:ln w="27432">
              <a:solidFill>
                <a:srgbClr val="000000"/>
              </a:solidFill>
              <a:tailEnd type="triangle" w="med" len="med"/>
            </a:ln>
          </p:spPr>
        </p:cxnSp>
        <p:cxnSp>
          <p:nvCxnSpPr>
            <p:cNvPr id="117" name="Connector 97"/>
            <p:cNvCxnSpPr/>
            <p:nvPr/>
          </p:nvCxnSpPr>
          <p:spPr>
            <a:xfrm>
              <a:off x="29891" y="10736"/>
              <a:ext cx="648" cy="864"/>
            </a:xfrm>
            <a:prstGeom prst="line">
              <a:avLst/>
            </a:prstGeom>
            <a:ln w="27432">
              <a:solidFill>
                <a:srgbClr val="000000"/>
              </a:solidFill>
              <a:tailEnd type="triangle" w="med" len="med"/>
            </a:ln>
          </p:spPr>
        </p:cxnSp>
      </p:grpSp>
      <p:sp>
        <p:nvSpPr>
          <p:cNvPr id="120" name="文本框 119"/>
          <p:cNvSpPr txBox="1"/>
          <p:nvPr/>
        </p:nvSpPr>
        <p:spPr>
          <a:xfrm>
            <a:off x="16650335" y="5594033"/>
            <a:ext cx="1431925" cy="50609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en-US" altLang="zh-CN" sz="22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Attack</a:t>
            </a:r>
          </a:p>
        </p:txBody>
      </p:sp>
      <p:sp>
        <p:nvSpPr>
          <p:cNvPr id="121" name="文本框 120"/>
          <p:cNvSpPr txBox="1"/>
          <p:nvPr/>
        </p:nvSpPr>
        <p:spPr>
          <a:xfrm>
            <a:off x="16650335" y="6516053"/>
            <a:ext cx="1431925" cy="50609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en-US" altLang="zh-CN" sz="22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Benign</a:t>
            </a:r>
          </a:p>
        </p:txBody>
      </p:sp>
      <p:pic>
        <p:nvPicPr>
          <p:cNvPr id="65" name="图片 64" descr="图标&#10;&#10;AI 生成的内容可能不正确。"/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3425805" y="4088130"/>
            <a:ext cx="774700" cy="673735"/>
          </a:xfrm>
          <a:prstGeom prst="rect">
            <a:avLst/>
          </a:prstGeom>
        </p:spPr>
      </p:pic>
      <p:sp>
        <p:nvSpPr>
          <p:cNvPr id="122" name="文本框 121"/>
          <p:cNvSpPr txBox="1"/>
          <p:nvPr/>
        </p:nvSpPr>
        <p:spPr>
          <a:xfrm>
            <a:off x="14156055" y="4140200"/>
            <a:ext cx="1014095" cy="3784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en-US" altLang="zh-CN" sz="22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Prompt</a:t>
            </a:r>
          </a:p>
        </p:txBody>
      </p:sp>
      <p:sp>
        <p:nvSpPr>
          <p:cNvPr id="5" name="左大括号 4"/>
          <p:cNvSpPr/>
          <p:nvPr/>
        </p:nvSpPr>
        <p:spPr>
          <a:xfrm>
            <a:off x="10382875" y="4452729"/>
            <a:ext cx="622233" cy="2756426"/>
          </a:xfrm>
          <a:prstGeom prst="leftBrace">
            <a:avLst>
              <a:gd name="adj1" fmla="val 38590"/>
              <a:gd name="adj2" fmla="val 48731"/>
            </a:avLst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Shape 4"/>
          <p:cNvSpPr/>
          <p:nvPr/>
        </p:nvSpPr>
        <p:spPr>
          <a:xfrm>
            <a:off x="6082030" y="5525868"/>
            <a:ext cx="1790700" cy="633095"/>
          </a:xfrm>
          <a:prstGeom prst="round2DiagRect">
            <a:avLst/>
          </a:prstGeom>
          <a:noFill/>
          <a:ln w="18000">
            <a:solidFill>
              <a:srgbClr val="000000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altLang="zh-CN" sz="22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XGBoost</a:t>
            </a:r>
            <a:endParaRPr lang="en-US" sz="22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pic>
        <p:nvPicPr>
          <p:cNvPr id="8" name="图片 15" descr="图标&#10;&#10;AI 生成的内容可能不正确。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 rot="16200000">
            <a:off x="11350580" y="7713346"/>
            <a:ext cx="498292" cy="499745"/>
          </a:xfrm>
          <a:prstGeom prst="rect">
            <a:avLst/>
          </a:prstGeom>
        </p:spPr>
      </p:pic>
      <p:cxnSp>
        <p:nvCxnSpPr>
          <p:cNvPr id="17" name="直接箭头连接符 69"/>
          <p:cNvCxnSpPr/>
          <p:nvPr/>
        </p:nvCxnSpPr>
        <p:spPr>
          <a:xfrm>
            <a:off x="5350509" y="5791681"/>
            <a:ext cx="61023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ounded Rectangle 78"/>
          <p:cNvSpPr/>
          <p:nvPr/>
        </p:nvSpPr>
        <p:spPr>
          <a:xfrm>
            <a:off x="8421518" y="5470893"/>
            <a:ext cx="1787921" cy="719454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182</Words>
  <Application>Microsoft Macintosh PowerPoint</Application>
  <PresentationFormat>Custom</PresentationFormat>
  <Paragraphs>90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4" baseType="lpstr">
      <vt:lpstr>Times New Roman</vt:lpstr>
      <vt:lpstr>Office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Wei Ma</cp:lastModifiedBy>
  <cp:revision>9</cp:revision>
  <dcterms:created xsi:type="dcterms:W3CDTF">2026-10-19T21:31:00Z</dcterms:created>
  <dcterms:modified xsi:type="dcterms:W3CDTF">2026-10-20T11:56:59Z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9767A78F5D7D46428DF2F89CABA98440_13</vt:lpwstr>
  </property>
</Properties>
</file>